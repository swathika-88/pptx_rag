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5" r:id="rId2"/>
    <p:sldId id="257" r:id="rId3"/>
    <p:sldId id="276" r:id="rId4"/>
    <p:sldId id="275" r:id="rId5"/>
    <p:sldId id="268" r:id="rId6"/>
    <p:sldId id="269" r:id="rId7"/>
    <p:sldId id="264" r:id="rId8"/>
    <p:sldId id="258" r:id="rId9"/>
    <p:sldId id="259" r:id="rId10"/>
    <p:sldId id="263" r:id="rId11"/>
    <p:sldId id="271" r:id="rId12"/>
    <p:sldId id="270" r:id="rId13"/>
    <p:sldId id="267" r:id="rId14"/>
    <p:sldId id="260" r:id="rId15"/>
    <p:sldId id="262" r:id="rId16"/>
    <p:sldId id="266" r:id="rId17"/>
    <p:sldId id="272" r:id="rId18"/>
    <p:sldId id="274" r:id="rId19"/>
    <p:sldId id="277"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274"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553D0F-30B0-42CB-BB12-5ED6483BE282}" type="datetimeFigureOut">
              <a:rPr lang="en-US" smtClean="0"/>
              <a:t>6/10/2025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C6098-0454-47F8-92F5-14DA2698ED6F}" type="slidenum">
              <a:rPr lang="en-US" smtClean="0"/>
              <a:t>‹#›</a:t>
            </a:fld>
            <a:endParaRPr lang="en-US"/>
          </a:p>
        </p:txBody>
      </p:sp>
    </p:spTree>
    <p:extLst>
      <p:ext uri="{BB962C8B-B14F-4D97-AF65-F5344CB8AC3E}">
        <p14:creationId xmlns:p14="http://schemas.microsoft.com/office/powerpoint/2010/main" val="905494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serves as the title page for the presentation on Machine Learning. It outlines the core topics that will be discussed, including a fundamental understanding of machine learning, various algorithms, and the ethical implications of their use.</a:t>
            </a:r>
          </a:p>
        </p:txBody>
      </p:sp>
      <p:sp>
        <p:nvSpPr>
          <p:cNvPr id="4" name="Slide Number Placeholder 3"/>
          <p:cNvSpPr>
            <a:spLocks noGrp="1"/>
          </p:cNvSpPr>
          <p:nvPr>
            <p:ph type="sldNum" sz="quarter" idx="5"/>
          </p:nvPr>
        </p:nvSpPr>
        <p:spPr/>
        <p:txBody>
          <a:bodyPr/>
          <a:lstStyle/>
          <a:p>
            <a:fld id="{C54C6098-0454-47F8-92F5-14DA2698ED6F}" type="slidenum">
              <a:rPr lang="en-US" smtClean="0"/>
              <a:t>1</a:t>
            </a:fld>
            <a:endParaRPr lang="en-US"/>
          </a:p>
        </p:txBody>
      </p:sp>
    </p:spTree>
    <p:extLst>
      <p:ext uri="{BB962C8B-B14F-4D97-AF65-F5344CB8AC3E}">
        <p14:creationId xmlns:p14="http://schemas.microsoft.com/office/powerpoint/2010/main" val="1670628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provides an overview of machine learning, highlighting its ability to learn from and improve with data. It also covers key applications like image recognition and natural language processing. Additionally, the slide discusses the main types of machine learning: supervised, unsupervised, and reinforcement learning, while also emphasizing the importance of considering ethical implications and biases.</a:t>
            </a:r>
          </a:p>
        </p:txBody>
      </p:sp>
      <p:sp>
        <p:nvSpPr>
          <p:cNvPr id="4" name="Slide Number Placeholder 3"/>
          <p:cNvSpPr>
            <a:spLocks noGrp="1"/>
          </p:cNvSpPr>
          <p:nvPr>
            <p:ph type="sldNum" sz="quarter" idx="5"/>
          </p:nvPr>
        </p:nvSpPr>
        <p:spPr/>
        <p:txBody>
          <a:bodyPr/>
          <a:lstStyle/>
          <a:p>
            <a:fld id="{806F587B-D517-407A-9D07-A3A4C6230F04}" type="slidenum">
              <a:rPr lang="en-US" smtClean="0"/>
              <a:t>2</a:t>
            </a:fld>
            <a:endParaRPr lang="en-US"/>
          </a:p>
        </p:txBody>
      </p:sp>
    </p:spTree>
    <p:extLst>
      <p:ext uri="{BB962C8B-B14F-4D97-AF65-F5344CB8AC3E}">
        <p14:creationId xmlns:p14="http://schemas.microsoft.com/office/powerpoint/2010/main" val="2888060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highlights the diverse applications of machine learning across various industries. From improving image and speech recognition to enhancing e-commerce through recommendation systems, machine learning is revolutionizing sectors. In healthcare, it assists in diagnostics, while its role in autonomous vehicles demonstrates its impact on safety and navigation.</a:t>
            </a:r>
          </a:p>
        </p:txBody>
      </p:sp>
      <p:sp>
        <p:nvSpPr>
          <p:cNvPr id="4" name="Slide Number Placeholder 3"/>
          <p:cNvSpPr>
            <a:spLocks noGrp="1"/>
          </p:cNvSpPr>
          <p:nvPr>
            <p:ph type="sldNum" sz="quarter" idx="5"/>
          </p:nvPr>
        </p:nvSpPr>
        <p:spPr/>
        <p:txBody>
          <a:bodyPr/>
          <a:lstStyle/>
          <a:p>
            <a:fld id="{C54C6098-0454-47F8-92F5-14DA2698ED6F}" type="slidenum">
              <a:rPr lang="en-US" smtClean="0"/>
              <a:t>3</a:t>
            </a:fld>
            <a:endParaRPr lang="en-US"/>
          </a:p>
        </p:txBody>
      </p:sp>
    </p:spTree>
    <p:extLst>
      <p:ext uri="{BB962C8B-B14F-4D97-AF65-F5344CB8AC3E}">
        <p14:creationId xmlns:p14="http://schemas.microsoft.com/office/powerpoint/2010/main" val="883516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machine learning, there are primarily three types: supervised, unsupervised, and reinforcement learning. Supervised learning uses labeled data to train models, while unsupervised learning looks for hidden patterns in data without labels. Reinforcement learning focuses on learning optimal actions through trial and error, often using rewards to guide the learning process.</a:t>
            </a:r>
          </a:p>
        </p:txBody>
      </p:sp>
      <p:sp>
        <p:nvSpPr>
          <p:cNvPr id="4" name="Slide Number Placeholder 3"/>
          <p:cNvSpPr>
            <a:spLocks noGrp="1"/>
          </p:cNvSpPr>
          <p:nvPr>
            <p:ph type="sldNum" sz="quarter" idx="5"/>
          </p:nvPr>
        </p:nvSpPr>
        <p:spPr/>
        <p:txBody>
          <a:bodyPr/>
          <a:lstStyle/>
          <a:p>
            <a:fld id="{C54C6098-0454-47F8-92F5-14DA2698ED6F}" type="slidenum">
              <a:rPr lang="en-US" smtClean="0"/>
              <a:t>4</a:t>
            </a:fld>
            <a:endParaRPr lang="en-US"/>
          </a:p>
        </p:txBody>
      </p:sp>
    </p:spTree>
    <p:extLst>
      <p:ext uri="{BB962C8B-B14F-4D97-AF65-F5344CB8AC3E}">
        <p14:creationId xmlns:p14="http://schemas.microsoft.com/office/powerpoint/2010/main" val="922280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Linear regression is a fundamental statistical method used for forecasting and prediction. It helps us understand the relationship between a dependent variable and one or more independent variables. By fitting a line through the data points, it allows us to make predictions, which can be immensely valuable in various fields such as finance and social sciences.</a:t>
            </a:r>
          </a:p>
        </p:txBody>
      </p:sp>
      <p:sp>
        <p:nvSpPr>
          <p:cNvPr id="4" name="Slide Number Placeholder 3"/>
          <p:cNvSpPr>
            <a:spLocks noGrp="1"/>
          </p:cNvSpPr>
          <p:nvPr>
            <p:ph type="sldNum" sz="quarter" idx="5"/>
          </p:nvPr>
        </p:nvSpPr>
        <p:spPr/>
        <p:txBody>
          <a:bodyPr/>
          <a:lstStyle/>
          <a:p>
            <a:fld id="{C54C6098-0454-47F8-92F5-14DA2698ED6F}" type="slidenum">
              <a:rPr lang="en-US" smtClean="0"/>
              <a:t>5</a:t>
            </a:fld>
            <a:endParaRPr lang="en-US"/>
          </a:p>
        </p:txBody>
      </p:sp>
    </p:spTree>
    <p:extLst>
      <p:ext uri="{BB962C8B-B14F-4D97-AF65-F5344CB8AC3E}">
        <p14:creationId xmlns:p14="http://schemas.microsoft.com/office/powerpoint/2010/main" val="365734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Regularization techniques are essential for improving the generalization of machine learning models. L1 regularization can lead to sparse solutions, while L2 regularization tends to distribute weight more evenly. Adding a penalty term to the loss function helps prevent overfitting, balancing accuracy with model complexity. Understanding how to tune these techniques is vital for optimal model performance.</a:t>
            </a:r>
          </a:p>
        </p:txBody>
      </p:sp>
      <p:sp>
        <p:nvSpPr>
          <p:cNvPr id="4" name="Slide Number Placeholder 3"/>
          <p:cNvSpPr>
            <a:spLocks noGrp="1"/>
          </p:cNvSpPr>
          <p:nvPr>
            <p:ph type="sldNum" sz="quarter" idx="5"/>
          </p:nvPr>
        </p:nvSpPr>
        <p:spPr/>
        <p:txBody>
          <a:bodyPr/>
          <a:lstStyle/>
          <a:p>
            <a:fld id="{C54C6098-0454-47F8-92F5-14DA2698ED6F}" type="slidenum">
              <a:rPr lang="en-US" smtClean="0"/>
              <a:t>6</a:t>
            </a:fld>
            <a:endParaRPr lang="en-US"/>
          </a:p>
        </p:txBody>
      </p:sp>
    </p:spTree>
    <p:extLst>
      <p:ext uri="{BB962C8B-B14F-4D97-AF65-F5344CB8AC3E}">
        <p14:creationId xmlns:p14="http://schemas.microsoft.com/office/powerpoint/2010/main" val="3926942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Logistic regression is a fundamental statistical method used for binary classification. It estimates the probability of a binary outcome based on one or more predictor variables by applying a logistic function. With its assumption of a linear relationship between features and the log-odds of the outcome, logistic regression remains a popular choice for various classification tasks.</a:t>
            </a:r>
          </a:p>
        </p:txBody>
      </p:sp>
      <p:sp>
        <p:nvSpPr>
          <p:cNvPr id="4" name="Slide Number Placeholder 3"/>
          <p:cNvSpPr>
            <a:spLocks noGrp="1"/>
          </p:cNvSpPr>
          <p:nvPr>
            <p:ph type="sldNum" sz="quarter" idx="5"/>
          </p:nvPr>
        </p:nvSpPr>
        <p:spPr/>
        <p:txBody>
          <a:bodyPr/>
          <a:lstStyle/>
          <a:p>
            <a:fld id="{C54C6098-0454-47F8-92F5-14DA2698ED6F}" type="slidenum">
              <a:rPr lang="en-US" smtClean="0"/>
              <a:t>7</a:t>
            </a:fld>
            <a:endParaRPr lang="en-US"/>
          </a:p>
        </p:txBody>
      </p:sp>
    </p:spTree>
    <p:extLst>
      <p:ext uri="{BB962C8B-B14F-4D97-AF65-F5344CB8AC3E}">
        <p14:creationId xmlns:p14="http://schemas.microsoft.com/office/powerpoint/2010/main" val="3623802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explores various machine learning algorithms in detail. Supervised learning requires labeled data for training, while unsupervised learning detects patterns in data without labels. Reinforcement learning focuses on learning optimal actions through rewards. Key algorithms like decision trees, support vector machines (SVMs), and neural networks are essential for different problems. It's important to evaluate models to assess their effectiveness and applicability.</a:t>
            </a:r>
          </a:p>
        </p:txBody>
      </p:sp>
      <p:sp>
        <p:nvSpPr>
          <p:cNvPr id="4" name="Slide Number Placeholder 3"/>
          <p:cNvSpPr>
            <a:spLocks noGrp="1"/>
          </p:cNvSpPr>
          <p:nvPr>
            <p:ph type="sldNum" sz="quarter" idx="5"/>
          </p:nvPr>
        </p:nvSpPr>
        <p:spPr/>
        <p:txBody>
          <a:bodyPr/>
          <a:lstStyle/>
          <a:p>
            <a:fld id="{C54C6098-0454-47F8-92F5-14DA2698ED6F}" type="slidenum">
              <a:rPr lang="en-US" smtClean="0"/>
              <a:t>8</a:t>
            </a:fld>
            <a:endParaRPr lang="en-US"/>
          </a:p>
        </p:txBody>
      </p:sp>
    </p:spTree>
    <p:extLst>
      <p:ext uri="{BB962C8B-B14F-4D97-AF65-F5344CB8AC3E}">
        <p14:creationId xmlns:p14="http://schemas.microsoft.com/office/powerpoint/2010/main" val="4202504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Decision trees are a popular algorithm due to their simplicity and interpretability. They work by splitting the data into subsets based on feature values, which allows them to create a model that can predict outcomes. This method is widely used in both classification and regression problems, and their visual representation helps in understanding the decision-making process.</a:t>
            </a:r>
          </a:p>
        </p:txBody>
      </p:sp>
      <p:sp>
        <p:nvSpPr>
          <p:cNvPr id="4" name="Slide Number Placeholder 3"/>
          <p:cNvSpPr>
            <a:spLocks noGrp="1"/>
          </p:cNvSpPr>
          <p:nvPr>
            <p:ph type="sldNum" sz="quarter" idx="5"/>
          </p:nvPr>
        </p:nvSpPr>
        <p:spPr/>
        <p:txBody>
          <a:bodyPr/>
          <a:lstStyle/>
          <a:p>
            <a:fld id="{C54C6098-0454-47F8-92F5-14DA2698ED6F}" type="slidenum">
              <a:rPr lang="en-US" smtClean="0"/>
              <a:t>9</a:t>
            </a:fld>
            <a:endParaRPr lang="en-US"/>
          </a:p>
        </p:txBody>
      </p:sp>
    </p:spTree>
    <p:extLst>
      <p:ext uri="{BB962C8B-B14F-4D97-AF65-F5344CB8AC3E}">
        <p14:creationId xmlns:p14="http://schemas.microsoft.com/office/powerpoint/2010/main" val="1802127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Random forests are an ensemble learning method that combines predictions from multiple decision trees to improve accuracy and reduce overfitting. By training each tree on a random subset of the data and selecting a random subset of features for splitting, random forests create a diverse set of models, leading to robust performance in both classification and regression problems.</a:t>
            </a:r>
          </a:p>
        </p:txBody>
      </p:sp>
      <p:sp>
        <p:nvSpPr>
          <p:cNvPr id="4" name="Slide Number Placeholder 3"/>
          <p:cNvSpPr>
            <a:spLocks noGrp="1"/>
          </p:cNvSpPr>
          <p:nvPr>
            <p:ph type="sldNum" sz="quarter" idx="5"/>
          </p:nvPr>
        </p:nvSpPr>
        <p:spPr/>
        <p:txBody>
          <a:bodyPr/>
          <a:lstStyle/>
          <a:p>
            <a:fld id="{C54C6098-0454-47F8-92F5-14DA2698ED6F}" type="slidenum">
              <a:rPr lang="en-US" smtClean="0"/>
              <a:t>10</a:t>
            </a:fld>
            <a:endParaRPr lang="en-US"/>
          </a:p>
        </p:txBody>
      </p:sp>
    </p:spTree>
    <p:extLst>
      <p:ext uri="{BB962C8B-B14F-4D97-AF65-F5344CB8AC3E}">
        <p14:creationId xmlns:p14="http://schemas.microsoft.com/office/powerpoint/2010/main" val="1323941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explores the essential concepts of bagging and boosting in machine learning. Bagging aims to reduce variance, making models more stable and reliable, while boosting focuses on reducing bias, enhancing the model's ability to learn from errors. By combining these methods, we can significantly improve the overall performance of our predictive models.</a:t>
            </a:r>
          </a:p>
        </p:txBody>
      </p:sp>
      <p:sp>
        <p:nvSpPr>
          <p:cNvPr id="4" name="Slide Number Placeholder 3"/>
          <p:cNvSpPr>
            <a:spLocks noGrp="1"/>
          </p:cNvSpPr>
          <p:nvPr>
            <p:ph type="sldNum" sz="quarter" idx="5"/>
          </p:nvPr>
        </p:nvSpPr>
        <p:spPr/>
        <p:txBody>
          <a:bodyPr/>
          <a:lstStyle/>
          <a:p>
            <a:fld id="{C54C6098-0454-47F8-92F5-14DA2698ED6F}" type="slidenum">
              <a:rPr lang="en-US" smtClean="0"/>
              <a:t>11</a:t>
            </a:fld>
            <a:endParaRPr lang="en-US"/>
          </a:p>
        </p:txBody>
      </p:sp>
    </p:spTree>
    <p:extLst>
      <p:ext uri="{BB962C8B-B14F-4D97-AF65-F5344CB8AC3E}">
        <p14:creationId xmlns:p14="http://schemas.microsoft.com/office/powerpoint/2010/main" val="414847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slide, we differentiate between bagging and boosting, highlighting their unique characteristics. Bagging focuses on reducing variance by training models independently on random subsets of data, while boosting aims to reduce bias by training models sequentially, where each new model focuses on the errors of the previous ones. Random forests exemplify bagging, whereas AdaBoost and Gradient Boosting are prominent boosting algorithms.</a:t>
            </a:r>
          </a:p>
        </p:txBody>
      </p:sp>
      <p:sp>
        <p:nvSpPr>
          <p:cNvPr id="4" name="Slide Number Placeholder 3"/>
          <p:cNvSpPr>
            <a:spLocks noGrp="1"/>
          </p:cNvSpPr>
          <p:nvPr>
            <p:ph type="sldNum" sz="quarter" idx="5"/>
          </p:nvPr>
        </p:nvSpPr>
        <p:spPr/>
        <p:txBody>
          <a:bodyPr/>
          <a:lstStyle/>
          <a:p>
            <a:fld id="{C54C6098-0454-47F8-92F5-14DA2698ED6F}" type="slidenum">
              <a:rPr lang="en-US" smtClean="0"/>
              <a:t>12</a:t>
            </a:fld>
            <a:endParaRPr lang="en-US"/>
          </a:p>
        </p:txBody>
      </p:sp>
    </p:spTree>
    <p:extLst>
      <p:ext uri="{BB962C8B-B14F-4D97-AF65-F5344CB8AC3E}">
        <p14:creationId xmlns:p14="http://schemas.microsoft.com/office/powerpoint/2010/main" val="11491642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AdaBoost, or Adaptive Boosting, is a powerful ensemble technique that improves the performance of weak classifiers by combining them into a single strong learner. It works by adjusting the weights of misclassified data points, thereby focusing more on challenging instances. While effective in many scenarios, it can be sensitive to noise and outliers, which may impact its performance.</a:t>
            </a:r>
          </a:p>
        </p:txBody>
      </p:sp>
      <p:sp>
        <p:nvSpPr>
          <p:cNvPr id="4" name="Slide Number Placeholder 3"/>
          <p:cNvSpPr>
            <a:spLocks noGrp="1"/>
          </p:cNvSpPr>
          <p:nvPr>
            <p:ph type="sldNum" sz="quarter" idx="5"/>
          </p:nvPr>
        </p:nvSpPr>
        <p:spPr/>
        <p:txBody>
          <a:bodyPr/>
          <a:lstStyle/>
          <a:p>
            <a:fld id="{C54C6098-0454-47F8-92F5-14DA2698ED6F}" type="slidenum">
              <a:rPr lang="en-US" smtClean="0"/>
              <a:t>13</a:t>
            </a:fld>
            <a:endParaRPr lang="en-US"/>
          </a:p>
        </p:txBody>
      </p:sp>
    </p:spTree>
    <p:extLst>
      <p:ext uri="{BB962C8B-B14F-4D97-AF65-F5344CB8AC3E}">
        <p14:creationId xmlns:p14="http://schemas.microsoft.com/office/powerpoint/2010/main" val="233097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Support Vector Machines are powerful classifiers that work by identifying the hyperplane that best separates the classes in the dataset. By maximizing the margin between different classes, SVMs provide strong generalization capabilities, particularly in high-dimensional spaces. The use of kernels allows SVMs to classify non-linear data effectively, making them versatile for various applications.</a:t>
            </a:r>
          </a:p>
        </p:txBody>
      </p:sp>
      <p:sp>
        <p:nvSpPr>
          <p:cNvPr id="4" name="Slide Number Placeholder 3"/>
          <p:cNvSpPr>
            <a:spLocks noGrp="1"/>
          </p:cNvSpPr>
          <p:nvPr>
            <p:ph type="sldNum" sz="quarter" idx="5"/>
          </p:nvPr>
        </p:nvSpPr>
        <p:spPr/>
        <p:txBody>
          <a:bodyPr/>
          <a:lstStyle/>
          <a:p>
            <a:fld id="{C54C6098-0454-47F8-92F5-14DA2698ED6F}" type="slidenum">
              <a:rPr lang="en-US" smtClean="0"/>
              <a:t>14</a:t>
            </a:fld>
            <a:endParaRPr lang="en-US"/>
          </a:p>
        </p:txBody>
      </p:sp>
    </p:spTree>
    <p:extLst>
      <p:ext uri="{BB962C8B-B14F-4D97-AF65-F5344CB8AC3E}">
        <p14:creationId xmlns:p14="http://schemas.microsoft.com/office/powerpoint/2010/main" val="3385046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K-Nearest Neighbors is an intuitive algorithm that classifies data points based on the majority class of their 'k' nearest neighbors. It employs distance metrics, such as Euclidean distance, to identify neighbors. While KNN is simple and effective in many scenarios, it can be sensitive to the presence of irrelevant features and requires careful feature scaling to perform optimally.</a:t>
            </a:r>
          </a:p>
        </p:txBody>
      </p:sp>
      <p:sp>
        <p:nvSpPr>
          <p:cNvPr id="4" name="Slide Number Placeholder 3"/>
          <p:cNvSpPr>
            <a:spLocks noGrp="1"/>
          </p:cNvSpPr>
          <p:nvPr>
            <p:ph type="sldNum" sz="quarter" idx="5"/>
          </p:nvPr>
        </p:nvSpPr>
        <p:spPr/>
        <p:txBody>
          <a:bodyPr/>
          <a:lstStyle/>
          <a:p>
            <a:fld id="{C54C6098-0454-47F8-92F5-14DA2698ED6F}" type="slidenum">
              <a:rPr lang="en-US" smtClean="0"/>
              <a:t>15</a:t>
            </a:fld>
            <a:endParaRPr lang="en-US"/>
          </a:p>
        </p:txBody>
      </p:sp>
    </p:spTree>
    <p:extLst>
      <p:ext uri="{BB962C8B-B14F-4D97-AF65-F5344CB8AC3E}">
        <p14:creationId xmlns:p14="http://schemas.microsoft.com/office/powerpoint/2010/main" val="767214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XGBoost, or Extreme Gradient Boosting, is a highly efficient and effective machine learning algorithm. It combines the strengths of traditional gradient boosting models while addressing their limitations. Known for its speed and performance, it excels in handling sparse data and missing values, making it a popular choice in data science competitions. Proper hyperparameter tuning can significantly enhance its performance.</a:t>
            </a:r>
          </a:p>
        </p:txBody>
      </p:sp>
      <p:sp>
        <p:nvSpPr>
          <p:cNvPr id="4" name="Slide Number Placeholder 3"/>
          <p:cNvSpPr>
            <a:spLocks noGrp="1"/>
          </p:cNvSpPr>
          <p:nvPr>
            <p:ph type="sldNum" sz="quarter" idx="5"/>
          </p:nvPr>
        </p:nvSpPr>
        <p:spPr/>
        <p:txBody>
          <a:bodyPr/>
          <a:lstStyle/>
          <a:p>
            <a:fld id="{C54C6098-0454-47F8-92F5-14DA2698ED6F}" type="slidenum">
              <a:rPr lang="en-US" smtClean="0"/>
              <a:t>16</a:t>
            </a:fld>
            <a:endParaRPr lang="en-US"/>
          </a:p>
        </p:txBody>
      </p:sp>
    </p:spTree>
    <p:extLst>
      <p:ext uri="{BB962C8B-B14F-4D97-AF65-F5344CB8AC3E}">
        <p14:creationId xmlns:p14="http://schemas.microsoft.com/office/powerpoint/2010/main" val="106974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slide, we explore essential evaluation metrics for classification algorithms. Accuracy provides a simple measure of correctness, while precision and recall reveal the model's effectiveness in handling positive instances. The F1 Score offers a balance between precision and recall, essential for imbalanced datasets. Lastly, the ROC-AUC metric helps visualize performance across different classification thresholds.</a:t>
            </a:r>
          </a:p>
        </p:txBody>
      </p:sp>
      <p:sp>
        <p:nvSpPr>
          <p:cNvPr id="4" name="Slide Number Placeholder 3"/>
          <p:cNvSpPr>
            <a:spLocks noGrp="1"/>
          </p:cNvSpPr>
          <p:nvPr>
            <p:ph type="sldNum" sz="quarter" idx="5"/>
          </p:nvPr>
        </p:nvSpPr>
        <p:spPr/>
        <p:txBody>
          <a:bodyPr/>
          <a:lstStyle/>
          <a:p>
            <a:fld id="{C54C6098-0454-47F8-92F5-14DA2698ED6F}" type="slidenum">
              <a:rPr lang="en-US" smtClean="0"/>
              <a:t>17</a:t>
            </a:fld>
            <a:endParaRPr lang="en-US"/>
          </a:p>
        </p:txBody>
      </p:sp>
    </p:spTree>
    <p:extLst>
      <p:ext uri="{BB962C8B-B14F-4D97-AF65-F5344CB8AC3E}">
        <p14:creationId xmlns:p14="http://schemas.microsoft.com/office/powerpoint/2010/main" val="6555649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covers essential metrics used for evaluating regression models. Mean Absolute Error (MAE) provides a straightforward measure of errors, while Mean Squared Error (MSE) emphasizes larger errors. RMSE is useful as it presents the error in the same unit as the target variable. R-squared and Adjusted R-squared give insights into how well the model explains the variance in the data, adjusting for the number of predictors.</a:t>
            </a:r>
          </a:p>
        </p:txBody>
      </p:sp>
      <p:sp>
        <p:nvSpPr>
          <p:cNvPr id="4" name="Slide Number Placeholder 3"/>
          <p:cNvSpPr>
            <a:spLocks noGrp="1"/>
          </p:cNvSpPr>
          <p:nvPr>
            <p:ph type="sldNum" sz="quarter" idx="5"/>
          </p:nvPr>
        </p:nvSpPr>
        <p:spPr/>
        <p:txBody>
          <a:bodyPr/>
          <a:lstStyle/>
          <a:p>
            <a:fld id="{C54C6098-0454-47F8-92F5-14DA2698ED6F}" type="slidenum">
              <a:rPr lang="en-US" smtClean="0"/>
              <a:t>18</a:t>
            </a:fld>
            <a:endParaRPr lang="en-US"/>
          </a:p>
        </p:txBody>
      </p:sp>
    </p:spTree>
    <p:extLst>
      <p:ext uri="{BB962C8B-B14F-4D97-AF65-F5344CB8AC3E}">
        <p14:creationId xmlns:p14="http://schemas.microsoft.com/office/powerpoint/2010/main" val="126904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Hyperparameter tuning is crucial for enhancing the performance of machine learning models. It involves adjusting the hyperparameters, which are settings that determine the learning process. Techniques like grid search systematically evaluate combinations, while random search introduces randomness to explore the hyperparameter space. Advanced methods such as Bayesian optimization can find optimal parameters more efficiently, ultimately leading to better model accuracy and reduced overfitting.</a:t>
            </a:r>
          </a:p>
        </p:txBody>
      </p:sp>
      <p:sp>
        <p:nvSpPr>
          <p:cNvPr id="4" name="Slide Number Placeholder 3"/>
          <p:cNvSpPr>
            <a:spLocks noGrp="1"/>
          </p:cNvSpPr>
          <p:nvPr>
            <p:ph type="sldNum" sz="quarter" idx="5"/>
          </p:nvPr>
        </p:nvSpPr>
        <p:spPr/>
        <p:txBody>
          <a:bodyPr/>
          <a:lstStyle/>
          <a:p>
            <a:fld id="{C54C6098-0454-47F8-92F5-14DA2698ED6F}" type="slidenum">
              <a:rPr lang="en-US" smtClean="0"/>
              <a:t>19</a:t>
            </a:fld>
            <a:endParaRPr lang="en-US"/>
          </a:p>
        </p:txBody>
      </p:sp>
    </p:spTree>
    <p:extLst>
      <p:ext uri="{BB962C8B-B14F-4D97-AF65-F5344CB8AC3E}">
        <p14:creationId xmlns:p14="http://schemas.microsoft.com/office/powerpoint/2010/main" val="2586949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hyperparameter tuning, grid search evaluates every possible combination of parameters, leading to thorough but potentially slow optimization. Random search, on the other hand, selects random combinations, which can be more efficient, particularly in larger spaces. The choice between these methods should consider the computational resources available and the problem's complexity.</a:t>
            </a:r>
          </a:p>
        </p:txBody>
      </p:sp>
      <p:sp>
        <p:nvSpPr>
          <p:cNvPr id="4" name="Slide Number Placeholder 3"/>
          <p:cNvSpPr>
            <a:spLocks noGrp="1"/>
          </p:cNvSpPr>
          <p:nvPr>
            <p:ph type="sldNum" sz="quarter" idx="5"/>
          </p:nvPr>
        </p:nvSpPr>
        <p:spPr/>
        <p:txBody>
          <a:bodyPr/>
          <a:lstStyle/>
          <a:p>
            <a:fld id="{C54C6098-0454-47F8-92F5-14DA2698ED6F}" type="slidenum">
              <a:rPr lang="en-US" smtClean="0"/>
              <a:t>20</a:t>
            </a:fld>
            <a:endParaRPr lang="en-US"/>
          </a:p>
        </p:txBody>
      </p:sp>
    </p:spTree>
    <p:extLst>
      <p:ext uri="{BB962C8B-B14F-4D97-AF65-F5344CB8AC3E}">
        <p14:creationId xmlns:p14="http://schemas.microsoft.com/office/powerpoint/2010/main" val="4247227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549A-3733-A60D-3930-5B907A3779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4EF26-EA5F-5BFE-2AC0-AB0BBC9186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BA4EBF-D6AA-931F-106A-F552FFAFAB42}"/>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5" name="Footer Placeholder 4">
            <a:extLst>
              <a:ext uri="{FF2B5EF4-FFF2-40B4-BE49-F238E27FC236}">
                <a16:creationId xmlns:a16="http://schemas.microsoft.com/office/drawing/2014/main" id="{25375721-B888-2360-EEFA-5D68CB08D6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F7B8D-A254-5EA8-0222-272B742B4FB8}"/>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948369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5FE2-D6A5-11F4-F11E-0A92213968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A171FF-07D3-BD3A-A81F-22073F7084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49D048-F0E3-F7A8-F850-104F8646B471}"/>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5" name="Footer Placeholder 4">
            <a:extLst>
              <a:ext uri="{FF2B5EF4-FFF2-40B4-BE49-F238E27FC236}">
                <a16:creationId xmlns:a16="http://schemas.microsoft.com/office/drawing/2014/main" id="{5B932568-D728-C994-18B6-79ECAAE1E4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D2323C-ED58-6394-2164-F3AEF1E90F37}"/>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2993945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BB7D3-A777-6212-6271-3FCF2CC436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52C1A8-279C-1529-0265-1C7ADB48F3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28CB73-E3EB-E477-1C75-53272D310A99}"/>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5" name="Footer Placeholder 4">
            <a:extLst>
              <a:ext uri="{FF2B5EF4-FFF2-40B4-BE49-F238E27FC236}">
                <a16:creationId xmlns:a16="http://schemas.microsoft.com/office/drawing/2014/main" id="{B74C037F-7DAA-124E-E18F-DAEBF5D256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602D9-2012-5FA5-C1E8-B274DD22B2F2}"/>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393417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E0D5A-BB37-7BDA-2B3B-6362E64F13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2CF67C-2BC1-9414-BA08-1E0FD517D1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925CEF-A8B2-3A14-D054-95C24D97FC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A3833C-91B3-8892-8D28-045F3AD0BF00}"/>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6" name="Footer Placeholder 5">
            <a:extLst>
              <a:ext uri="{FF2B5EF4-FFF2-40B4-BE49-F238E27FC236}">
                <a16:creationId xmlns:a16="http://schemas.microsoft.com/office/drawing/2014/main" id="{0C38E9F8-7449-7C98-65ED-383403742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60ACE1-4963-EC45-EA7B-AF63587C8797}"/>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626780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A8322-6238-1F4B-7568-0B587F8EA8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3ACBB3-C3B7-4C5E-F086-08CD48E411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AFEADE-742A-8795-C8A6-8B53231F4F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DBB060-EAEB-6ACD-16B2-DA967E2394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7BD077-9C10-6F11-1CD8-75324DDC78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48156F-1D8F-7C44-43E6-1D8EC7A13714}"/>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8" name="Footer Placeholder 7">
            <a:extLst>
              <a:ext uri="{FF2B5EF4-FFF2-40B4-BE49-F238E27FC236}">
                <a16:creationId xmlns:a16="http://schemas.microsoft.com/office/drawing/2014/main" id="{B286AF0C-3B83-E625-B90B-EC3BF9A8E9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652F2-4AED-D38E-BB01-025F25540D81}"/>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2300088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8F14A-7A21-997C-CC74-79934DF0A8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E12DAC-15E8-04BD-A18A-EE954B5E130A}"/>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4" name="Footer Placeholder 3">
            <a:extLst>
              <a:ext uri="{FF2B5EF4-FFF2-40B4-BE49-F238E27FC236}">
                <a16:creationId xmlns:a16="http://schemas.microsoft.com/office/drawing/2014/main" id="{6937EA10-77D9-D25E-30FC-24A4A6AE46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C5392C-F128-2D36-F54F-A5244EB6D440}"/>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1143824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1B1B68-3002-49A6-DDA3-9470991390C4}"/>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3" name="Footer Placeholder 2">
            <a:extLst>
              <a:ext uri="{FF2B5EF4-FFF2-40B4-BE49-F238E27FC236}">
                <a16:creationId xmlns:a16="http://schemas.microsoft.com/office/drawing/2014/main" id="{CF7BADE9-A673-E6B0-851D-E9C1501E0B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040BE3-4FCC-8B73-B240-65CA7A786D0D}"/>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2860350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3CB4A-2C23-9200-2674-A317D02478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8890E8-ECE2-6F6A-8C2B-DC6524BC4E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C3D0D2-D653-955D-62F5-235DFD453D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04AC23-52BD-4C38-45E0-8261402DA578}"/>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6" name="Footer Placeholder 5">
            <a:extLst>
              <a:ext uri="{FF2B5EF4-FFF2-40B4-BE49-F238E27FC236}">
                <a16:creationId xmlns:a16="http://schemas.microsoft.com/office/drawing/2014/main" id="{8C0AED04-5F96-23E1-6FB9-8E928429A0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292C97-D481-1DF7-3E92-384337BAB297}"/>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1899234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D4826-1748-B190-BB15-B87C642A5C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41E2BC-CA6E-2BAC-40E4-917DBBABA0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7C8E20-3CE8-0626-6133-1194F4E005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D01684-E337-52DE-CF90-4D25C1A85164}"/>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6" name="Footer Placeholder 5">
            <a:extLst>
              <a:ext uri="{FF2B5EF4-FFF2-40B4-BE49-F238E27FC236}">
                <a16:creationId xmlns:a16="http://schemas.microsoft.com/office/drawing/2014/main" id="{F0032A04-F221-1DC1-5F34-67B3738932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DFF291-4046-8026-2DDE-3928B1D6EF84}"/>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2753432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1F722-607D-6C17-05A5-646EBC974F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33E9BF-D932-1DF8-7D5B-FD8DB69D17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DAC279-6C21-972F-D8E5-29F9D45C3116}"/>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5" name="Footer Placeholder 4">
            <a:extLst>
              <a:ext uri="{FF2B5EF4-FFF2-40B4-BE49-F238E27FC236}">
                <a16:creationId xmlns:a16="http://schemas.microsoft.com/office/drawing/2014/main" id="{65A91EAD-F576-5A85-680B-105B3BC0F7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0C0F9-1DFA-8466-B33E-084E720790C5}"/>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318450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739C1-7DF9-7402-27A3-926BFEC1E3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F49569-1A95-A05E-0E1F-B0EE64E9C6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791222-BA2F-3FF5-BE23-4B02F093083F}"/>
              </a:ext>
            </a:extLst>
          </p:cNvPr>
          <p:cNvSpPr>
            <a:spLocks noGrp="1"/>
          </p:cNvSpPr>
          <p:nvPr>
            <p:ph type="dt" sz="half" idx="10"/>
          </p:nvPr>
        </p:nvSpPr>
        <p:spPr/>
        <p:txBody>
          <a:bodyPr/>
          <a:lstStyle/>
          <a:p>
            <a:fld id="{B93E7C1B-9821-4F5A-B3C9-A88D9AD663FC}" type="datetimeFigureOut">
              <a:rPr lang="en-US" smtClean="0"/>
              <a:t>6/10/2025</a:t>
            </a:fld>
            <a:endParaRPr lang="en-US"/>
          </a:p>
        </p:txBody>
      </p:sp>
      <p:sp>
        <p:nvSpPr>
          <p:cNvPr id="5" name="Footer Placeholder 4">
            <a:extLst>
              <a:ext uri="{FF2B5EF4-FFF2-40B4-BE49-F238E27FC236}">
                <a16:creationId xmlns:a16="http://schemas.microsoft.com/office/drawing/2014/main" id="{A6A3E419-F6FB-14D6-ABB8-287670DBFE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0E8340-179F-71C3-81DA-1FC8CAFF3365}"/>
              </a:ext>
            </a:extLst>
          </p:cNvPr>
          <p:cNvSpPr>
            <a:spLocks noGrp="1"/>
          </p:cNvSpPr>
          <p:nvPr>
            <p:ph type="sldNum" sz="quarter" idx="12"/>
          </p:nvPr>
        </p:nvSpPr>
        <p:spPr/>
        <p:txBody>
          <a:bodyPr/>
          <a:lstStyle/>
          <a:p>
            <a:fld id="{094FF1A5-6960-45A6-B687-2ED807CEC47E}" type="slidenum">
              <a:rPr lang="en-US" smtClean="0"/>
              <a:t>‹#›</a:t>
            </a:fld>
            <a:endParaRPr lang="en-US"/>
          </a:p>
        </p:txBody>
      </p:sp>
    </p:spTree>
    <p:extLst>
      <p:ext uri="{BB962C8B-B14F-4D97-AF65-F5344CB8AC3E}">
        <p14:creationId xmlns:p14="http://schemas.microsoft.com/office/powerpoint/2010/main" val="2094434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E88003-CE39-4C2E-9BE1-C83AA6F91C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B5E1DE-7AFD-99F8-CDFB-D6F1C761DB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CA29AF-5489-FB17-82BC-14D6809F24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3E7C1B-9821-4F5A-B3C9-A88D9AD663FC}" type="datetimeFigureOut">
              <a:rPr lang="en-US" smtClean="0"/>
              <a:t>6/10/2025</a:t>
            </a:fld>
            <a:endParaRPr lang="en-US"/>
          </a:p>
        </p:txBody>
      </p:sp>
      <p:sp>
        <p:nvSpPr>
          <p:cNvPr id="5" name="Footer Placeholder 4">
            <a:extLst>
              <a:ext uri="{FF2B5EF4-FFF2-40B4-BE49-F238E27FC236}">
                <a16:creationId xmlns:a16="http://schemas.microsoft.com/office/drawing/2014/main" id="{8011B5E9-54E3-62E9-48B5-5E8AD5C171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3E2DAC-053B-B3D7-BF99-8892B2D18C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4FF1A5-6960-45A6-B687-2ED807CEC47E}" type="slidenum">
              <a:rPr lang="en-US" smtClean="0"/>
              <a:t>‹#›</a:t>
            </a:fld>
            <a:endParaRPr lang="en-US"/>
          </a:p>
        </p:txBody>
      </p:sp>
    </p:spTree>
    <p:extLst>
      <p:ext uri="{BB962C8B-B14F-4D97-AF65-F5344CB8AC3E}">
        <p14:creationId xmlns:p14="http://schemas.microsoft.com/office/powerpoint/2010/main" val="1319031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B1335E-9174-CE1D-8CED-E72A68F17B81}"/>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Introduction to Machine Learning</a:t>
            </a:r>
          </a:p>
        </p:txBody>
      </p:sp>
      <p:sp>
        <p:nvSpPr>
          <p:cNvPr id="4" name="Content Placeholder 3">
            <a:extLst>
              <a:ext uri="{FF2B5EF4-FFF2-40B4-BE49-F238E27FC236}">
                <a16:creationId xmlns:a16="http://schemas.microsoft.com/office/drawing/2014/main" id="{41B01D40-E752-4C10-8426-75F3B603FFED}"/>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20000"/>
              </a:lnSpc>
            </a:pPr>
            <a:r>
              <a:rPr lang="en-US" sz="1800"/>
              <a:t>Understanding the fundamentals of machine learning.</a:t>
            </a:r>
          </a:p>
          <a:p>
            <a:pPr>
              <a:lnSpc>
                <a:spcPct val="120000"/>
              </a:lnSpc>
            </a:pPr>
            <a:r>
              <a:rPr lang="en-US" sz="1800"/>
              <a:t>Exploring various algorithms and their applications.</a:t>
            </a:r>
          </a:p>
          <a:p>
            <a:pPr>
              <a:lnSpc>
                <a:spcPct val="120000"/>
              </a:lnSpc>
            </a:pPr>
            <a:r>
              <a:rPr lang="en-US" sz="1800"/>
              <a:t>Ethical considerations in machine learning practices.</a:t>
            </a:r>
          </a:p>
        </p:txBody>
      </p:sp>
      <p:pic>
        <p:nvPicPr>
          <p:cNvPr id="5" name="Content Placeholder 4" descr="Magnifying glass showing decling performance">
            <a:extLst>
              <a:ext uri="{FF2B5EF4-FFF2-40B4-BE49-F238E27FC236}">
                <a16:creationId xmlns:a16="http://schemas.microsoft.com/office/drawing/2014/main" id="{D2AEE4CD-8078-401A-8F69-D321D2E6F0B3}"/>
              </a:ext>
            </a:extLst>
          </p:cNvPr>
          <p:cNvPicPr>
            <a:picLocks noGrp="1" noChangeAspect="1"/>
          </p:cNvPicPr>
          <p:nvPr>
            <p:ph sz="half" idx="1"/>
          </p:nvPr>
        </p:nvPicPr>
        <p:blipFill>
          <a:blip r:embed="rId3"/>
          <a:stretch>
            <a:fillRect/>
          </a:stretch>
        </p:blipFill>
        <p:spPr>
          <a:xfrm>
            <a:off x="5691261" y="1480640"/>
            <a:ext cx="5837780" cy="3896719"/>
          </a:xfrm>
          <a:prstGeom prst="rect">
            <a:avLst/>
          </a:prstGeom>
        </p:spPr>
      </p:pic>
    </p:spTree>
    <p:extLst>
      <p:ext uri="{BB962C8B-B14F-4D97-AF65-F5344CB8AC3E}">
        <p14:creationId xmlns:p14="http://schemas.microsoft.com/office/powerpoint/2010/main" val="2803087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B96EC5-2B8D-629B-E4C4-5084742E44D8}"/>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Understanding Machine Learning</a:t>
            </a:r>
          </a:p>
        </p:txBody>
      </p:sp>
      <p:sp>
        <p:nvSpPr>
          <p:cNvPr id="4" name="Content Placeholder 3">
            <a:extLst>
              <a:ext uri="{FF2B5EF4-FFF2-40B4-BE49-F238E27FC236}">
                <a16:creationId xmlns:a16="http://schemas.microsoft.com/office/drawing/2014/main" id="{4A0E61F1-438C-594E-EBAE-68A0742B8DC4}"/>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Machine learning enables systems to learn from data.</a:t>
            </a:r>
          </a:p>
          <a:p>
            <a:pPr>
              <a:lnSpc>
                <a:spcPct val="110000"/>
              </a:lnSpc>
            </a:pPr>
            <a:r>
              <a:rPr lang="en-US" sz="1500"/>
              <a:t>It improves over time with more data and experience.</a:t>
            </a:r>
          </a:p>
          <a:p>
            <a:pPr>
              <a:lnSpc>
                <a:spcPct val="110000"/>
              </a:lnSpc>
            </a:pPr>
            <a:r>
              <a:rPr lang="en-US" sz="1500"/>
              <a:t>Applications include image recognition, natural language processing, and more.</a:t>
            </a:r>
          </a:p>
          <a:p>
            <a:pPr>
              <a:lnSpc>
                <a:spcPct val="110000"/>
              </a:lnSpc>
            </a:pPr>
            <a:r>
              <a:rPr lang="en-US" sz="1500"/>
              <a:t>Types include supervised, unsupervised, and reinforcement learning.</a:t>
            </a:r>
          </a:p>
          <a:p>
            <a:pPr>
              <a:lnSpc>
                <a:spcPct val="110000"/>
              </a:lnSpc>
            </a:pPr>
            <a:r>
              <a:rPr lang="en-US" sz="1500"/>
              <a:t>Ethics and bias in machine learning are critical considerations.</a:t>
            </a:r>
          </a:p>
        </p:txBody>
      </p:sp>
      <p:pic>
        <p:nvPicPr>
          <p:cNvPr id="5" name="Content Placeholder 4" descr="Magnifying glass showing decling performance">
            <a:extLst>
              <a:ext uri="{FF2B5EF4-FFF2-40B4-BE49-F238E27FC236}">
                <a16:creationId xmlns:a16="http://schemas.microsoft.com/office/drawing/2014/main" id="{6C6E0F71-D628-4A73-9F9E-F3412F4B7B43}"/>
              </a:ext>
            </a:extLst>
          </p:cNvPr>
          <p:cNvPicPr>
            <a:picLocks noGrp="1" noChangeAspect="1"/>
          </p:cNvPicPr>
          <p:nvPr>
            <p:ph sz="half" idx="1"/>
          </p:nvPr>
        </p:nvPicPr>
        <p:blipFill>
          <a:blip r:embed="rId3"/>
          <a:stretch>
            <a:fillRect/>
          </a:stretch>
        </p:blipFill>
        <p:spPr>
          <a:xfrm>
            <a:off x="5691261" y="1480640"/>
            <a:ext cx="5837780" cy="3896719"/>
          </a:xfrm>
          <a:prstGeom prst="rect">
            <a:avLst/>
          </a:prstGeom>
        </p:spPr>
      </p:pic>
    </p:spTree>
    <p:extLst>
      <p:ext uri="{BB962C8B-B14F-4D97-AF65-F5344CB8AC3E}">
        <p14:creationId xmlns:p14="http://schemas.microsoft.com/office/powerpoint/2010/main" val="1560804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58D67E-0A48-3071-08CA-F27CE2E8E0D6}"/>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Diverse Applications of Machine Learning</a:t>
            </a:r>
          </a:p>
        </p:txBody>
      </p:sp>
      <p:sp>
        <p:nvSpPr>
          <p:cNvPr id="4" name="Content Placeholder 3">
            <a:extLst>
              <a:ext uri="{FF2B5EF4-FFF2-40B4-BE49-F238E27FC236}">
                <a16:creationId xmlns:a16="http://schemas.microsoft.com/office/drawing/2014/main" id="{08CE73AC-746D-200E-6021-7670DFB6D6D2}"/>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Machine learning enhances image and speech recognition systems.</a:t>
            </a:r>
          </a:p>
          <a:p>
            <a:pPr>
              <a:lnSpc>
                <a:spcPct val="110000"/>
              </a:lnSpc>
            </a:pPr>
            <a:r>
              <a:rPr lang="en-US" sz="1500"/>
              <a:t>Used in finance for fraud detection and risk assessment.</a:t>
            </a:r>
          </a:p>
          <a:p>
            <a:pPr>
              <a:lnSpc>
                <a:spcPct val="110000"/>
              </a:lnSpc>
            </a:pPr>
            <a:r>
              <a:rPr lang="en-US" sz="1500"/>
              <a:t>Recommendation engines optimize customer experience in e-commerce.</a:t>
            </a:r>
          </a:p>
          <a:p>
            <a:pPr>
              <a:lnSpc>
                <a:spcPct val="110000"/>
              </a:lnSpc>
            </a:pPr>
            <a:r>
              <a:rPr lang="en-US" sz="1500"/>
              <a:t>In healthcare, it aids in diagnostics and personalized treatment.</a:t>
            </a:r>
          </a:p>
          <a:p>
            <a:pPr>
              <a:lnSpc>
                <a:spcPct val="110000"/>
              </a:lnSpc>
            </a:pPr>
            <a:r>
              <a:rPr lang="en-US" sz="1500"/>
              <a:t>Machine learning powers autonomous vehicle navigation and safety.</a:t>
            </a:r>
          </a:p>
        </p:txBody>
      </p:sp>
      <p:pic>
        <p:nvPicPr>
          <p:cNvPr id="5" name="Content Placeholder 4" descr="Eye Recognition Technology">
            <a:extLst>
              <a:ext uri="{FF2B5EF4-FFF2-40B4-BE49-F238E27FC236}">
                <a16:creationId xmlns:a16="http://schemas.microsoft.com/office/drawing/2014/main" id="{D263CE2D-22D4-487F-8109-B24F8C3FF75A}"/>
              </a:ext>
            </a:extLst>
          </p:cNvPr>
          <p:cNvPicPr>
            <a:picLocks noGrp="1" noChangeAspect="1"/>
          </p:cNvPicPr>
          <p:nvPr>
            <p:ph sz="half" idx="1"/>
          </p:nvPr>
        </p:nvPicPr>
        <p:blipFill>
          <a:blip r:embed="rId3"/>
          <a:stretch>
            <a:fillRect/>
          </a:stretch>
        </p:blipFill>
        <p:spPr>
          <a:xfrm>
            <a:off x="5691261" y="1393074"/>
            <a:ext cx="5837780" cy="4071851"/>
          </a:xfrm>
          <a:prstGeom prst="rect">
            <a:avLst/>
          </a:prstGeom>
        </p:spPr>
      </p:pic>
    </p:spTree>
    <p:extLst>
      <p:ext uri="{BB962C8B-B14F-4D97-AF65-F5344CB8AC3E}">
        <p14:creationId xmlns:p14="http://schemas.microsoft.com/office/powerpoint/2010/main" val="3029911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BD2369-560F-297A-69B4-A58BD058A3DC}"/>
              </a:ext>
            </a:extLst>
          </p:cNvPr>
          <p:cNvSpPr>
            <a:spLocks noGrp="1"/>
          </p:cNvSpPr>
          <p:nvPr>
            <p:ph type="title"/>
          </p:nvPr>
        </p:nvSpPr>
        <p:spPr>
          <a:xfrm>
            <a:off x="612648" y="603504"/>
            <a:ext cx="4361686"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Exploring Types of Machine Learning</a:t>
            </a:r>
          </a:p>
        </p:txBody>
      </p:sp>
      <p:sp>
        <p:nvSpPr>
          <p:cNvPr id="4" name="Content Placeholder 3">
            <a:extLst>
              <a:ext uri="{FF2B5EF4-FFF2-40B4-BE49-F238E27FC236}">
                <a16:creationId xmlns:a16="http://schemas.microsoft.com/office/drawing/2014/main" id="{8E4EAD7C-80EA-ACDE-9837-8D98525A9675}"/>
              </a:ext>
            </a:extLst>
          </p:cNvPr>
          <p:cNvSpPr>
            <a:spLocks noGrp="1"/>
          </p:cNvSpPr>
          <p:nvPr>
            <p:ph sz="half" idx="2"/>
          </p:nvPr>
        </p:nvSpPr>
        <p:spPr>
          <a:xfrm>
            <a:off x="612647" y="2212848"/>
            <a:ext cx="4361687" cy="4096512"/>
          </a:xfrm>
        </p:spPr>
        <p:txBody>
          <a:bodyPr vert="horz" lIns="91440" tIns="45720" rIns="91440" bIns="45720" rtlCol="0">
            <a:normAutofit/>
          </a:bodyPr>
          <a:lstStyle/>
          <a:p>
            <a:pPr>
              <a:lnSpc>
                <a:spcPct val="120000"/>
              </a:lnSpc>
            </a:pPr>
            <a:r>
              <a:rPr lang="en-US" sz="1800"/>
              <a:t>Machine learning can be categorized into three main types.</a:t>
            </a:r>
          </a:p>
          <a:p>
            <a:pPr>
              <a:lnSpc>
                <a:spcPct val="120000"/>
              </a:lnSpc>
            </a:pPr>
            <a:r>
              <a:rPr lang="en-US" sz="1800"/>
              <a:t>Supervised learning requires labeled data for training.</a:t>
            </a:r>
          </a:p>
          <a:p>
            <a:pPr>
              <a:lnSpc>
                <a:spcPct val="120000"/>
              </a:lnSpc>
            </a:pPr>
            <a:r>
              <a:rPr lang="en-US" sz="1800"/>
              <a:t>Unsupervised learning detects patterns in unlabeled data.</a:t>
            </a:r>
          </a:p>
          <a:p>
            <a:pPr>
              <a:lnSpc>
                <a:spcPct val="120000"/>
              </a:lnSpc>
            </a:pPr>
            <a:r>
              <a:rPr lang="en-US" sz="1800"/>
              <a:t>Reinforcement learning involves learning from actions and rewards.</a:t>
            </a:r>
          </a:p>
          <a:p>
            <a:pPr>
              <a:lnSpc>
                <a:spcPct val="120000"/>
              </a:lnSpc>
            </a:pPr>
            <a:r>
              <a:rPr lang="en-US" sz="1800"/>
              <a:t>Each type has unique algorithms and applications.</a:t>
            </a:r>
          </a:p>
        </p:txBody>
      </p:sp>
      <p:pic>
        <p:nvPicPr>
          <p:cNvPr id="5" name="Content Placeholder 4" descr="Vibrant multicolour checkered floor design">
            <a:extLst>
              <a:ext uri="{FF2B5EF4-FFF2-40B4-BE49-F238E27FC236}">
                <a16:creationId xmlns:a16="http://schemas.microsoft.com/office/drawing/2014/main" id="{44BEE13B-D54A-4272-A329-0EA203B8D579}"/>
              </a:ext>
            </a:extLst>
          </p:cNvPr>
          <p:cNvPicPr>
            <a:picLocks noGrp="1" noChangeAspect="1"/>
          </p:cNvPicPr>
          <p:nvPr>
            <p:ph sz="half" idx="1"/>
          </p:nvPr>
        </p:nvPicPr>
        <p:blipFill>
          <a:blip r:embed="rId3"/>
          <a:srcRect l="17795" r="19475"/>
          <a:stretch>
            <a:fillRect/>
          </a:stretch>
        </p:blipFill>
        <p:spPr>
          <a:xfrm>
            <a:off x="5818632" y="-1"/>
            <a:ext cx="6373368" cy="6858001"/>
          </a:xfrm>
          <a:prstGeom prst="rect">
            <a:avLst/>
          </a:prstGeom>
        </p:spPr>
      </p:pic>
    </p:spTree>
    <p:extLst>
      <p:ext uri="{BB962C8B-B14F-4D97-AF65-F5344CB8AC3E}">
        <p14:creationId xmlns:p14="http://schemas.microsoft.com/office/powerpoint/2010/main" val="1836284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3EEF74-6494-0138-14F4-E5F8F7DF09E1}"/>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Linear Regression Unveiled</a:t>
            </a:r>
          </a:p>
        </p:txBody>
      </p:sp>
      <p:sp>
        <p:nvSpPr>
          <p:cNvPr id="4" name="Content Placeholder 3">
            <a:extLst>
              <a:ext uri="{FF2B5EF4-FFF2-40B4-BE49-F238E27FC236}">
                <a16:creationId xmlns:a16="http://schemas.microsoft.com/office/drawing/2014/main" id="{E295140E-5F9D-77F1-9509-6667EB266E8A}"/>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Linear regression predicts outcomes based on input features.</a:t>
            </a:r>
          </a:p>
          <a:p>
            <a:pPr>
              <a:lnSpc>
                <a:spcPct val="110000"/>
              </a:lnSpc>
            </a:pPr>
            <a:r>
              <a:rPr lang="en-US" sz="1500"/>
              <a:t>It assumes a linear relationship between dependent and independent variables.</a:t>
            </a:r>
          </a:p>
          <a:p>
            <a:pPr>
              <a:lnSpc>
                <a:spcPct val="110000"/>
              </a:lnSpc>
            </a:pPr>
            <a:r>
              <a:rPr lang="en-US" sz="1500"/>
              <a:t>Ordinary Least Squares minimizes the error in predictions.</a:t>
            </a:r>
          </a:p>
          <a:p>
            <a:pPr>
              <a:lnSpc>
                <a:spcPct val="110000"/>
              </a:lnSpc>
            </a:pPr>
            <a:r>
              <a:rPr lang="en-US" sz="1500"/>
              <a:t>Linear regression can be extended to multiple variables.</a:t>
            </a:r>
          </a:p>
          <a:p>
            <a:pPr>
              <a:lnSpc>
                <a:spcPct val="110000"/>
              </a:lnSpc>
            </a:pPr>
            <a:r>
              <a:rPr lang="en-US" sz="1500"/>
              <a:t>It's widely used in finance, economics, and social sciences.</a:t>
            </a:r>
          </a:p>
        </p:txBody>
      </p:sp>
      <p:pic>
        <p:nvPicPr>
          <p:cNvPr id="5" name="Content Placeholder 4" descr="Business statistics concept: creative graph made of tubes and balls">
            <a:extLst>
              <a:ext uri="{FF2B5EF4-FFF2-40B4-BE49-F238E27FC236}">
                <a16:creationId xmlns:a16="http://schemas.microsoft.com/office/drawing/2014/main" id="{61C028FC-8133-4B25-BD11-AD0DB0E58DED}"/>
              </a:ext>
            </a:extLst>
          </p:cNvPr>
          <p:cNvPicPr>
            <a:picLocks noGrp="1" noChangeAspect="1"/>
          </p:cNvPicPr>
          <p:nvPr>
            <p:ph sz="half" idx="1"/>
          </p:nvPr>
        </p:nvPicPr>
        <p:blipFill>
          <a:blip r:embed="rId3"/>
          <a:stretch>
            <a:fillRect/>
          </a:stretch>
        </p:blipFill>
        <p:spPr>
          <a:xfrm>
            <a:off x="5691261" y="1480640"/>
            <a:ext cx="5837780" cy="3896718"/>
          </a:xfrm>
          <a:prstGeom prst="rect">
            <a:avLst/>
          </a:prstGeom>
        </p:spPr>
      </p:pic>
    </p:spTree>
    <p:extLst>
      <p:ext uri="{BB962C8B-B14F-4D97-AF65-F5344CB8AC3E}">
        <p14:creationId xmlns:p14="http://schemas.microsoft.com/office/powerpoint/2010/main" val="1683770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4E6095-0B79-79CF-E2A9-2C10FE19B796}"/>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100" b="1" kern="1200">
                <a:solidFill>
                  <a:schemeClr val="tx1"/>
                </a:solidFill>
                <a:latin typeface="+mj-lt"/>
                <a:ea typeface="+mj-ea"/>
                <a:cs typeface="+mj-cs"/>
              </a:rPr>
              <a:t>Understanding Regularization Techniques</a:t>
            </a:r>
          </a:p>
        </p:txBody>
      </p:sp>
      <p:sp>
        <p:nvSpPr>
          <p:cNvPr id="4" name="Content Placeholder 3">
            <a:extLst>
              <a:ext uri="{FF2B5EF4-FFF2-40B4-BE49-F238E27FC236}">
                <a16:creationId xmlns:a16="http://schemas.microsoft.com/office/drawing/2014/main" id="{BB878CDF-5FA7-07C6-E3B9-3DED0F6E2CD6}"/>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Regularization prevents overfitting in machine learning models.</a:t>
            </a:r>
          </a:p>
          <a:p>
            <a:pPr>
              <a:lnSpc>
                <a:spcPct val="110000"/>
              </a:lnSpc>
            </a:pPr>
            <a:r>
              <a:rPr lang="en-US" sz="1500"/>
              <a:t>Common techniques include L1 regularization (Lasso) and L2 regularization (Ridge).</a:t>
            </a:r>
          </a:p>
          <a:p>
            <a:pPr>
              <a:lnSpc>
                <a:spcPct val="110000"/>
              </a:lnSpc>
            </a:pPr>
            <a:r>
              <a:rPr lang="en-US" sz="1500"/>
              <a:t>Regularization adds a penalty term to the loss function.</a:t>
            </a:r>
          </a:p>
          <a:p>
            <a:pPr>
              <a:lnSpc>
                <a:spcPct val="110000"/>
              </a:lnSpc>
            </a:pPr>
            <a:r>
              <a:rPr lang="en-US" sz="1500"/>
              <a:t>It improves model generalization by controlling complexity.</a:t>
            </a:r>
          </a:p>
          <a:p>
            <a:pPr>
              <a:lnSpc>
                <a:spcPct val="110000"/>
              </a:lnSpc>
            </a:pPr>
            <a:r>
              <a:rPr lang="en-US" sz="1500"/>
              <a:t>Choosing the right regularization strength is crucial for performance.</a:t>
            </a:r>
          </a:p>
        </p:txBody>
      </p:sp>
      <p:pic>
        <p:nvPicPr>
          <p:cNvPr id="5" name="Content Placeholder 4" descr="Data concept">
            <a:extLst>
              <a:ext uri="{FF2B5EF4-FFF2-40B4-BE49-F238E27FC236}">
                <a16:creationId xmlns:a16="http://schemas.microsoft.com/office/drawing/2014/main" id="{7831F46B-B67B-469C-A446-EDB3BCE36D11}"/>
              </a:ext>
            </a:extLst>
          </p:cNvPr>
          <p:cNvPicPr>
            <a:picLocks noGrp="1" noChangeAspect="1"/>
          </p:cNvPicPr>
          <p:nvPr>
            <p:ph sz="half" idx="1"/>
          </p:nvPr>
        </p:nvPicPr>
        <p:blipFill>
          <a:blip r:embed="rId3"/>
          <a:stretch>
            <a:fillRect/>
          </a:stretch>
        </p:blipFill>
        <p:spPr>
          <a:xfrm>
            <a:off x="5691261" y="1239832"/>
            <a:ext cx="5837780" cy="4378335"/>
          </a:xfrm>
          <a:prstGeom prst="rect">
            <a:avLst/>
          </a:prstGeom>
        </p:spPr>
      </p:pic>
    </p:spTree>
    <p:extLst>
      <p:ext uri="{BB962C8B-B14F-4D97-AF65-F5344CB8AC3E}">
        <p14:creationId xmlns:p14="http://schemas.microsoft.com/office/powerpoint/2010/main" val="3096842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447C30-3A3A-175A-0AEA-99B5BB0E096B}"/>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Logistic Regression Basics</a:t>
            </a:r>
          </a:p>
        </p:txBody>
      </p:sp>
      <p:sp>
        <p:nvSpPr>
          <p:cNvPr id="4" name="Content Placeholder 3">
            <a:extLst>
              <a:ext uri="{FF2B5EF4-FFF2-40B4-BE49-F238E27FC236}">
                <a16:creationId xmlns:a16="http://schemas.microsoft.com/office/drawing/2014/main" id="{28D1306E-B913-40D4-645F-A2E8BC404108}"/>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20000"/>
              </a:lnSpc>
            </a:pPr>
            <a:r>
              <a:rPr lang="en-US" sz="1700"/>
              <a:t>Logistic regression models binary outcomes.</a:t>
            </a:r>
          </a:p>
          <a:p>
            <a:pPr>
              <a:lnSpc>
                <a:spcPct val="120000"/>
              </a:lnSpc>
            </a:pPr>
            <a:r>
              <a:rPr lang="en-US" sz="1700"/>
              <a:t>It estimates probabilities using a logistic function.</a:t>
            </a:r>
          </a:p>
          <a:p>
            <a:pPr>
              <a:lnSpc>
                <a:spcPct val="120000"/>
              </a:lnSpc>
            </a:pPr>
            <a:r>
              <a:rPr lang="en-US" sz="1700"/>
              <a:t>The output is a value between 0 and 1.</a:t>
            </a:r>
          </a:p>
          <a:p>
            <a:pPr>
              <a:lnSpc>
                <a:spcPct val="120000"/>
              </a:lnSpc>
            </a:pPr>
            <a:r>
              <a:rPr lang="en-US" sz="1700"/>
              <a:t>Commonly used in binary classification tasks.</a:t>
            </a:r>
          </a:p>
          <a:p>
            <a:pPr>
              <a:lnSpc>
                <a:spcPct val="120000"/>
              </a:lnSpc>
            </a:pPr>
            <a:r>
              <a:rPr lang="en-US" sz="1700"/>
              <a:t>Assumes a linear relationship between features.</a:t>
            </a:r>
          </a:p>
        </p:txBody>
      </p:sp>
      <p:pic>
        <p:nvPicPr>
          <p:cNvPr id="5" name="Content Placeholder 4" descr="Shipping and logistics concept,cargo box">
            <a:extLst>
              <a:ext uri="{FF2B5EF4-FFF2-40B4-BE49-F238E27FC236}">
                <a16:creationId xmlns:a16="http://schemas.microsoft.com/office/drawing/2014/main" id="{66F0020F-33B7-47FC-891E-9E34FCCA9F2F}"/>
              </a:ext>
            </a:extLst>
          </p:cNvPr>
          <p:cNvPicPr>
            <a:picLocks noGrp="1" noChangeAspect="1"/>
          </p:cNvPicPr>
          <p:nvPr>
            <p:ph sz="half" idx="1"/>
          </p:nvPr>
        </p:nvPicPr>
        <p:blipFill>
          <a:blip r:embed="rId3"/>
          <a:stretch>
            <a:fillRect/>
          </a:stretch>
        </p:blipFill>
        <p:spPr>
          <a:xfrm>
            <a:off x="5691261" y="1210643"/>
            <a:ext cx="5837780" cy="4436712"/>
          </a:xfrm>
          <a:prstGeom prst="rect">
            <a:avLst/>
          </a:prstGeom>
        </p:spPr>
      </p:pic>
    </p:spTree>
    <p:extLst>
      <p:ext uri="{BB962C8B-B14F-4D97-AF65-F5344CB8AC3E}">
        <p14:creationId xmlns:p14="http://schemas.microsoft.com/office/powerpoint/2010/main" val="3085694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CF42E8-B04E-188A-4A1D-BC0FA0011CFF}"/>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sz="3300" b="1" kern="1200">
                <a:solidFill>
                  <a:schemeClr val="tx1"/>
                </a:solidFill>
                <a:latin typeface="+mj-lt"/>
                <a:ea typeface="+mj-ea"/>
                <a:cs typeface="+mj-cs"/>
              </a:rPr>
              <a:t>Diving Deeper into Machine Learning Algorithms</a:t>
            </a:r>
          </a:p>
        </p:txBody>
      </p:sp>
      <p:sp>
        <p:nvSpPr>
          <p:cNvPr id="4" name="Content Placeholder 3">
            <a:extLst>
              <a:ext uri="{FF2B5EF4-FFF2-40B4-BE49-F238E27FC236}">
                <a16:creationId xmlns:a16="http://schemas.microsoft.com/office/drawing/2014/main" id="{364AFD45-9F44-ADA3-739F-35CD212926E1}"/>
              </a:ext>
            </a:extLst>
          </p:cNvPr>
          <p:cNvSpPr>
            <a:spLocks noGrp="1"/>
          </p:cNvSpPr>
          <p:nvPr>
            <p:ph sz="half" idx="2"/>
          </p:nvPr>
        </p:nvSpPr>
        <p:spPr>
          <a:xfrm>
            <a:off x="614679" y="2212848"/>
            <a:ext cx="4361688" cy="4096512"/>
          </a:xfrm>
        </p:spPr>
        <p:txBody>
          <a:bodyPr vert="horz" lIns="91440" tIns="45720" rIns="91440" bIns="45720" rtlCol="0">
            <a:normAutofit/>
          </a:bodyPr>
          <a:lstStyle/>
          <a:p>
            <a:pPr>
              <a:lnSpc>
                <a:spcPct val="120000"/>
              </a:lnSpc>
            </a:pPr>
            <a:r>
              <a:rPr lang="en-US" sz="1800"/>
              <a:t>Supervised learning uses labeled data for training models.</a:t>
            </a:r>
          </a:p>
          <a:p>
            <a:pPr>
              <a:lnSpc>
                <a:spcPct val="120000"/>
              </a:lnSpc>
            </a:pPr>
            <a:r>
              <a:rPr lang="en-US" sz="1800"/>
              <a:t>Unsupervised learning finds hidden patterns in unlabeled data.</a:t>
            </a:r>
          </a:p>
          <a:p>
            <a:pPr>
              <a:lnSpc>
                <a:spcPct val="120000"/>
              </a:lnSpc>
            </a:pPr>
            <a:r>
              <a:rPr lang="en-US" sz="1800"/>
              <a:t>Reinforcement learning optimizes actions based on rewards.</a:t>
            </a:r>
          </a:p>
          <a:p>
            <a:pPr>
              <a:lnSpc>
                <a:spcPct val="120000"/>
              </a:lnSpc>
            </a:pPr>
            <a:r>
              <a:rPr lang="en-US" sz="1800"/>
              <a:t>Common algorithms include decision trees, SVMs, and neural networks.</a:t>
            </a:r>
          </a:p>
          <a:p>
            <a:pPr>
              <a:lnSpc>
                <a:spcPct val="120000"/>
              </a:lnSpc>
            </a:pPr>
            <a:r>
              <a:rPr lang="en-US" sz="1800"/>
              <a:t>Model evaluation is crucial for understanding performance.</a:t>
            </a:r>
          </a:p>
        </p:txBody>
      </p:sp>
      <p:pic>
        <p:nvPicPr>
          <p:cNvPr id="5" name="Content Placeholder 4">
            <a:extLst>
              <a:ext uri="{FF2B5EF4-FFF2-40B4-BE49-F238E27FC236}">
                <a16:creationId xmlns:a16="http://schemas.microsoft.com/office/drawing/2014/main" id="{109E2770-1AD4-4983-931A-2B5F8C4FAA62}"/>
              </a:ext>
            </a:extLst>
          </p:cNvPr>
          <p:cNvPicPr>
            <a:picLocks noGrp="1" noChangeAspect="1"/>
          </p:cNvPicPr>
          <p:nvPr>
            <p:ph sz="half" idx="1"/>
          </p:nvPr>
        </p:nvPicPr>
        <p:blipFill>
          <a:blip r:embed="rId3"/>
          <a:srcRect l="7175" r="2217" b="2"/>
          <a:stretch/>
        </p:blipFill>
        <p:spPr>
          <a:xfrm>
            <a:off x="5818632" y="-1"/>
            <a:ext cx="6373368" cy="6857999"/>
          </a:xfrm>
          <a:prstGeom prst="rect">
            <a:avLst/>
          </a:prstGeom>
        </p:spPr>
      </p:pic>
    </p:spTree>
    <p:extLst>
      <p:ext uri="{BB962C8B-B14F-4D97-AF65-F5344CB8AC3E}">
        <p14:creationId xmlns:p14="http://schemas.microsoft.com/office/powerpoint/2010/main" val="2373512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163F9E-5286-057E-AB82-885CAD453151}"/>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Decision Trees Explained</a:t>
            </a:r>
          </a:p>
        </p:txBody>
      </p:sp>
      <p:sp>
        <p:nvSpPr>
          <p:cNvPr id="4" name="Content Placeholder 3">
            <a:extLst>
              <a:ext uri="{FF2B5EF4-FFF2-40B4-BE49-F238E27FC236}">
                <a16:creationId xmlns:a16="http://schemas.microsoft.com/office/drawing/2014/main" id="{224F48CE-7F06-CAA4-F7D3-4DA0761618BA}"/>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700"/>
              <a:t>Decision trees use a tree-like model for decisions.</a:t>
            </a:r>
          </a:p>
          <a:p>
            <a:pPr>
              <a:lnSpc>
                <a:spcPct val="110000"/>
              </a:lnSpc>
            </a:pPr>
            <a:r>
              <a:rPr lang="en-US" sz="1700"/>
              <a:t>Each internal node represents a test on an attribute.</a:t>
            </a:r>
          </a:p>
          <a:p>
            <a:pPr>
              <a:lnSpc>
                <a:spcPct val="110000"/>
              </a:lnSpc>
            </a:pPr>
            <a:r>
              <a:rPr lang="en-US" sz="1700"/>
              <a:t>Branches represent the outcome of tests, leading to final decisions.</a:t>
            </a:r>
          </a:p>
          <a:p>
            <a:pPr>
              <a:lnSpc>
                <a:spcPct val="110000"/>
              </a:lnSpc>
            </a:pPr>
            <a:r>
              <a:rPr lang="en-US" sz="1700"/>
              <a:t>They are simple to interpret and visualize.</a:t>
            </a:r>
          </a:p>
          <a:p>
            <a:pPr>
              <a:lnSpc>
                <a:spcPct val="110000"/>
              </a:lnSpc>
            </a:pPr>
            <a:r>
              <a:rPr lang="en-US" sz="1700"/>
              <a:t>Commonly used in classification and regression tasks.</a:t>
            </a:r>
          </a:p>
        </p:txBody>
      </p:sp>
      <p:pic>
        <p:nvPicPr>
          <p:cNvPr id="5" name="Content Placeholder 4" descr="Huge old green tree with visible spread roots">
            <a:extLst>
              <a:ext uri="{FF2B5EF4-FFF2-40B4-BE49-F238E27FC236}">
                <a16:creationId xmlns:a16="http://schemas.microsoft.com/office/drawing/2014/main" id="{5B79C8A1-52AB-431B-B2D8-851D6D3147A0}"/>
              </a:ext>
            </a:extLst>
          </p:cNvPr>
          <p:cNvPicPr>
            <a:picLocks noGrp="1" noChangeAspect="1"/>
          </p:cNvPicPr>
          <p:nvPr>
            <p:ph sz="half" idx="1"/>
          </p:nvPr>
        </p:nvPicPr>
        <p:blipFill>
          <a:blip r:embed="rId3"/>
          <a:stretch>
            <a:fillRect/>
          </a:stretch>
        </p:blipFill>
        <p:spPr>
          <a:xfrm>
            <a:off x="5691261" y="1261723"/>
            <a:ext cx="5837780" cy="4334553"/>
          </a:xfrm>
          <a:prstGeom prst="rect">
            <a:avLst/>
          </a:prstGeom>
        </p:spPr>
      </p:pic>
    </p:spTree>
    <p:extLst>
      <p:ext uri="{BB962C8B-B14F-4D97-AF65-F5344CB8AC3E}">
        <p14:creationId xmlns:p14="http://schemas.microsoft.com/office/powerpoint/2010/main" val="1014203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F8E0AF-0518-1DF5-B97B-48A626E1D0B4}"/>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Random Forests Overview</a:t>
            </a:r>
          </a:p>
        </p:txBody>
      </p:sp>
      <p:sp>
        <p:nvSpPr>
          <p:cNvPr id="4" name="Content Placeholder 3">
            <a:extLst>
              <a:ext uri="{FF2B5EF4-FFF2-40B4-BE49-F238E27FC236}">
                <a16:creationId xmlns:a16="http://schemas.microsoft.com/office/drawing/2014/main" id="{5236C28C-1941-437B-3C18-973D206150C2}"/>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Random forests combine multiple decision trees.</a:t>
            </a:r>
          </a:p>
          <a:p>
            <a:pPr>
              <a:lnSpc>
                <a:spcPct val="110000"/>
              </a:lnSpc>
            </a:pPr>
            <a:r>
              <a:rPr lang="en-US" sz="1500"/>
              <a:t>Each tree is trained on a random subset of data.</a:t>
            </a:r>
          </a:p>
          <a:p>
            <a:pPr>
              <a:lnSpc>
                <a:spcPct val="110000"/>
              </a:lnSpc>
            </a:pPr>
            <a:r>
              <a:rPr lang="en-US" sz="1500"/>
              <a:t>They reduce overfitting compared to individual trees.</a:t>
            </a:r>
          </a:p>
          <a:p>
            <a:pPr>
              <a:lnSpc>
                <a:spcPct val="110000"/>
              </a:lnSpc>
            </a:pPr>
            <a:r>
              <a:rPr lang="en-US" sz="1500"/>
              <a:t>Feature randomness adds diversity to the model.</a:t>
            </a:r>
          </a:p>
          <a:p>
            <a:pPr>
              <a:lnSpc>
                <a:spcPct val="110000"/>
              </a:lnSpc>
            </a:pPr>
            <a:r>
              <a:rPr lang="en-US" sz="1500"/>
              <a:t>Effective in classification and regression tasks.</a:t>
            </a:r>
          </a:p>
        </p:txBody>
      </p:sp>
      <p:pic>
        <p:nvPicPr>
          <p:cNvPr id="5" name="Content Placeholder 4" descr="Black and white image of the trunk of standing trees">
            <a:extLst>
              <a:ext uri="{FF2B5EF4-FFF2-40B4-BE49-F238E27FC236}">
                <a16:creationId xmlns:a16="http://schemas.microsoft.com/office/drawing/2014/main" id="{1C15DD3A-49A6-4912-9183-16C43AE1D15F}"/>
              </a:ext>
            </a:extLst>
          </p:cNvPr>
          <p:cNvPicPr>
            <a:picLocks noGrp="1" noChangeAspect="1"/>
          </p:cNvPicPr>
          <p:nvPr>
            <p:ph sz="half" idx="1"/>
          </p:nvPr>
        </p:nvPicPr>
        <p:blipFill>
          <a:blip r:embed="rId3"/>
          <a:stretch>
            <a:fillRect/>
          </a:stretch>
        </p:blipFill>
        <p:spPr>
          <a:xfrm>
            <a:off x="5691261" y="1597395"/>
            <a:ext cx="5837780" cy="3663208"/>
          </a:xfrm>
          <a:prstGeom prst="rect">
            <a:avLst/>
          </a:prstGeom>
        </p:spPr>
      </p:pic>
    </p:spTree>
    <p:extLst>
      <p:ext uri="{BB962C8B-B14F-4D97-AF65-F5344CB8AC3E}">
        <p14:creationId xmlns:p14="http://schemas.microsoft.com/office/powerpoint/2010/main" val="1192708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B2FBDB-6A0F-0A1C-467C-858931E075E8}"/>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2800" b="1" kern="1200">
                <a:solidFill>
                  <a:schemeClr val="tx1"/>
                </a:solidFill>
                <a:latin typeface="+mj-lt"/>
                <a:ea typeface="+mj-ea"/>
                <a:cs typeface="+mj-cs"/>
              </a:rPr>
              <a:t>Enhancing Model Performance with Bagging and Boosting</a:t>
            </a:r>
          </a:p>
        </p:txBody>
      </p:sp>
      <p:sp>
        <p:nvSpPr>
          <p:cNvPr id="4" name="Content Placeholder 3">
            <a:extLst>
              <a:ext uri="{FF2B5EF4-FFF2-40B4-BE49-F238E27FC236}">
                <a16:creationId xmlns:a16="http://schemas.microsoft.com/office/drawing/2014/main" id="{6CE8B26C-2924-8CFD-4666-E3479AB57D50}"/>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Bagging reduces variance by training multiple models independently.</a:t>
            </a:r>
          </a:p>
          <a:p>
            <a:pPr>
              <a:lnSpc>
                <a:spcPct val="110000"/>
              </a:lnSpc>
            </a:pPr>
            <a:r>
              <a:rPr lang="en-US" sz="1500"/>
              <a:t>Boosting reduces bias by training models sequentially.</a:t>
            </a:r>
          </a:p>
          <a:p>
            <a:pPr>
              <a:lnSpc>
                <a:spcPct val="110000"/>
              </a:lnSpc>
            </a:pPr>
            <a:r>
              <a:rPr lang="en-US" sz="1500"/>
              <a:t>Random forests exemplify the bagging technique.</a:t>
            </a:r>
          </a:p>
          <a:p>
            <a:pPr>
              <a:lnSpc>
                <a:spcPct val="110000"/>
              </a:lnSpc>
            </a:pPr>
            <a:r>
              <a:rPr lang="en-US" sz="1500"/>
              <a:t>AdaBoost adjusts weights based on previous errors.</a:t>
            </a:r>
          </a:p>
          <a:p>
            <a:pPr>
              <a:lnSpc>
                <a:spcPct val="110000"/>
              </a:lnSpc>
            </a:pPr>
            <a:r>
              <a:rPr lang="en-US" sz="1500"/>
              <a:t>Both methods improve predictive accuracy in different ways.</a:t>
            </a:r>
          </a:p>
        </p:txBody>
      </p:sp>
      <p:pic>
        <p:nvPicPr>
          <p:cNvPr id="5" name="Content Placeholder 4" descr="Compressed Data concept with alphabet words with blocks">
            <a:extLst>
              <a:ext uri="{FF2B5EF4-FFF2-40B4-BE49-F238E27FC236}">
                <a16:creationId xmlns:a16="http://schemas.microsoft.com/office/drawing/2014/main" id="{85657EAA-9446-44A0-B2B6-7841881F7479}"/>
              </a:ext>
            </a:extLst>
          </p:cNvPr>
          <p:cNvPicPr>
            <a:picLocks noGrp="1" noChangeAspect="1"/>
          </p:cNvPicPr>
          <p:nvPr>
            <p:ph sz="half" idx="1"/>
          </p:nvPr>
        </p:nvPicPr>
        <p:blipFill>
          <a:blip r:embed="rId3"/>
          <a:stretch>
            <a:fillRect/>
          </a:stretch>
        </p:blipFill>
        <p:spPr>
          <a:xfrm>
            <a:off x="5691261" y="1480640"/>
            <a:ext cx="5837780" cy="3896718"/>
          </a:xfrm>
          <a:prstGeom prst="rect">
            <a:avLst/>
          </a:prstGeom>
        </p:spPr>
      </p:pic>
    </p:spTree>
    <p:extLst>
      <p:ext uri="{BB962C8B-B14F-4D97-AF65-F5344CB8AC3E}">
        <p14:creationId xmlns:p14="http://schemas.microsoft.com/office/powerpoint/2010/main" val="569863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6BF919-9D79-F14A-5197-E27974A2CF72}"/>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Bagging vs. Boosting: Key Differences</a:t>
            </a:r>
          </a:p>
        </p:txBody>
      </p:sp>
      <p:sp>
        <p:nvSpPr>
          <p:cNvPr id="4" name="Content Placeholder 3">
            <a:extLst>
              <a:ext uri="{FF2B5EF4-FFF2-40B4-BE49-F238E27FC236}">
                <a16:creationId xmlns:a16="http://schemas.microsoft.com/office/drawing/2014/main" id="{33D83EBA-C0BF-EBFD-1BB7-B3E134B6AC3D}"/>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700"/>
              <a:t>Both bagging and boosting are ensemble methods.</a:t>
            </a:r>
          </a:p>
          <a:p>
            <a:pPr>
              <a:lnSpc>
                <a:spcPct val="110000"/>
              </a:lnSpc>
            </a:pPr>
            <a:r>
              <a:rPr lang="en-US" sz="1700"/>
              <a:t>Bagging reduces variance, boosting reduces bias.</a:t>
            </a:r>
          </a:p>
          <a:p>
            <a:pPr>
              <a:lnSpc>
                <a:spcPct val="110000"/>
              </a:lnSpc>
            </a:pPr>
            <a:r>
              <a:rPr lang="en-US" sz="1700"/>
              <a:t>Bagging trains models independently, boosting sequentially.</a:t>
            </a:r>
          </a:p>
          <a:p>
            <a:pPr>
              <a:lnSpc>
                <a:spcPct val="110000"/>
              </a:lnSpc>
            </a:pPr>
            <a:r>
              <a:rPr lang="en-US" sz="1700"/>
              <a:t>Random forests are an example of bagging.</a:t>
            </a:r>
          </a:p>
          <a:p>
            <a:pPr>
              <a:lnSpc>
                <a:spcPct val="110000"/>
              </a:lnSpc>
            </a:pPr>
            <a:r>
              <a:rPr lang="en-US" sz="1700"/>
              <a:t>Boosting algorithms include AdaBoost and Gradient Boosting.</a:t>
            </a:r>
          </a:p>
        </p:txBody>
      </p:sp>
    </p:spTree>
    <p:extLst>
      <p:ext uri="{BB962C8B-B14F-4D97-AF65-F5344CB8AC3E}">
        <p14:creationId xmlns:p14="http://schemas.microsoft.com/office/powerpoint/2010/main" val="1035520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5B673-3861-76AF-ECE2-5EB0969B74E6}"/>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AdaBoost: Boosting Performance</a:t>
            </a:r>
          </a:p>
        </p:txBody>
      </p:sp>
      <p:sp>
        <p:nvSpPr>
          <p:cNvPr id="4" name="Content Placeholder 3">
            <a:extLst>
              <a:ext uri="{FF2B5EF4-FFF2-40B4-BE49-F238E27FC236}">
                <a16:creationId xmlns:a16="http://schemas.microsoft.com/office/drawing/2014/main" id="{C2612DF4-DA2A-31A4-01BB-2A75E5AE4924}"/>
              </a:ext>
            </a:extLst>
          </p:cNvPr>
          <p:cNvSpPr>
            <a:spLocks noGrp="1"/>
          </p:cNvSpPr>
          <p:nvPr>
            <p:ph sz="half" idx="2"/>
          </p:nvPr>
        </p:nvSpPr>
        <p:spPr>
          <a:xfrm>
            <a:off x="612647" y="2212848"/>
            <a:ext cx="6035041" cy="4096512"/>
          </a:xfrm>
        </p:spPr>
        <p:txBody>
          <a:bodyPr vert="horz" lIns="91440" tIns="45720" rIns="91440" bIns="45720" rtlCol="0">
            <a:normAutofit/>
          </a:bodyPr>
          <a:lstStyle/>
          <a:p>
            <a:pPr>
              <a:lnSpc>
                <a:spcPct val="120000"/>
              </a:lnSpc>
            </a:pPr>
            <a:r>
              <a:rPr lang="en-US" sz="1800"/>
              <a:t>AdaBoost stands for Adaptive Boosting, enhancing weak classifiers.</a:t>
            </a:r>
          </a:p>
          <a:p>
            <a:pPr>
              <a:lnSpc>
                <a:spcPct val="120000"/>
              </a:lnSpc>
            </a:pPr>
            <a:r>
              <a:rPr lang="en-US" sz="1800"/>
              <a:t>It combines multiple weak models to form a strong learner.</a:t>
            </a:r>
          </a:p>
          <a:p>
            <a:pPr>
              <a:lnSpc>
                <a:spcPct val="120000"/>
              </a:lnSpc>
            </a:pPr>
            <a:r>
              <a:rPr lang="en-US" sz="1800"/>
              <a:t>Weights are adjusted based on classification errors.</a:t>
            </a:r>
          </a:p>
          <a:p>
            <a:pPr>
              <a:lnSpc>
                <a:spcPct val="120000"/>
              </a:lnSpc>
            </a:pPr>
            <a:r>
              <a:rPr lang="en-US" sz="1800"/>
              <a:t>Sensitive to noisy data and outliers.</a:t>
            </a:r>
          </a:p>
          <a:p>
            <a:pPr>
              <a:lnSpc>
                <a:spcPct val="120000"/>
              </a:lnSpc>
            </a:pPr>
            <a:r>
              <a:rPr lang="en-US" sz="1800"/>
              <a:t>Effective for binary classification tasks and can be extended.</a:t>
            </a:r>
          </a:p>
        </p:txBody>
      </p:sp>
      <p:pic>
        <p:nvPicPr>
          <p:cNvPr id="5" name="Content Placeholder 4" descr="Business team forming words from alphabet blocks.">
            <a:extLst>
              <a:ext uri="{FF2B5EF4-FFF2-40B4-BE49-F238E27FC236}">
                <a16:creationId xmlns:a16="http://schemas.microsoft.com/office/drawing/2014/main" id="{51AD397F-853D-49D8-BAF7-2D242362E298}"/>
              </a:ext>
            </a:extLst>
          </p:cNvPr>
          <p:cNvPicPr>
            <a:picLocks noGrp="1" noChangeAspect="1"/>
          </p:cNvPicPr>
          <p:nvPr>
            <p:ph sz="half" idx="1"/>
          </p:nvPr>
        </p:nvPicPr>
        <p:blipFill>
          <a:blip r:embed="rId3"/>
          <a:srcRect r="5778"/>
          <a:stretch>
            <a:fillRect/>
          </a:stretch>
        </p:blipFill>
        <p:spPr>
          <a:xfrm>
            <a:off x="7345680" y="10"/>
            <a:ext cx="4846320" cy="6857990"/>
          </a:xfrm>
          <a:prstGeom prst="rect">
            <a:avLst/>
          </a:prstGeom>
        </p:spPr>
      </p:pic>
    </p:spTree>
    <p:extLst>
      <p:ext uri="{BB962C8B-B14F-4D97-AF65-F5344CB8AC3E}">
        <p14:creationId xmlns:p14="http://schemas.microsoft.com/office/powerpoint/2010/main" val="409429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377A52-3854-8094-9D2C-B4FDB5BABB97}"/>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Support Vector Machines (SVM)</a:t>
            </a:r>
          </a:p>
        </p:txBody>
      </p:sp>
      <p:sp>
        <p:nvSpPr>
          <p:cNvPr id="4" name="Content Placeholder 3">
            <a:extLst>
              <a:ext uri="{FF2B5EF4-FFF2-40B4-BE49-F238E27FC236}">
                <a16:creationId xmlns:a16="http://schemas.microsoft.com/office/drawing/2014/main" id="{0F80335F-0F8C-0704-750D-9C5D8C80ECB3}"/>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800"/>
              <a:t>SVM finds the optimal hyperplane for classification.</a:t>
            </a:r>
          </a:p>
          <a:p>
            <a:pPr>
              <a:lnSpc>
                <a:spcPct val="110000"/>
              </a:lnSpc>
            </a:pPr>
            <a:r>
              <a:rPr lang="en-US" sz="1800"/>
              <a:t>It maximizes the margin between classes.</a:t>
            </a:r>
          </a:p>
          <a:p>
            <a:pPr>
              <a:lnSpc>
                <a:spcPct val="110000"/>
              </a:lnSpc>
            </a:pPr>
            <a:r>
              <a:rPr lang="en-US" sz="1800"/>
              <a:t>Kernel tricks allow SVM to handle non-linear data.</a:t>
            </a:r>
          </a:p>
          <a:p>
            <a:pPr>
              <a:lnSpc>
                <a:spcPct val="110000"/>
              </a:lnSpc>
            </a:pPr>
            <a:r>
              <a:rPr lang="en-US" sz="1800"/>
              <a:t>Useful in high-dimensional spaces.</a:t>
            </a:r>
          </a:p>
          <a:p>
            <a:pPr>
              <a:lnSpc>
                <a:spcPct val="110000"/>
              </a:lnSpc>
            </a:pPr>
            <a:r>
              <a:rPr lang="en-US" sz="1800"/>
              <a:t>Robust against overfitting in high dimensions.</a:t>
            </a:r>
          </a:p>
        </p:txBody>
      </p:sp>
      <p:pic>
        <p:nvPicPr>
          <p:cNvPr id="5" name="Content Placeholder 4" descr="White airplane toy flying above clouds under sun rays">
            <a:extLst>
              <a:ext uri="{FF2B5EF4-FFF2-40B4-BE49-F238E27FC236}">
                <a16:creationId xmlns:a16="http://schemas.microsoft.com/office/drawing/2014/main" id="{5FF3D277-7E14-4D25-80F3-8A4E967C0138}"/>
              </a:ext>
            </a:extLst>
          </p:cNvPr>
          <p:cNvPicPr>
            <a:picLocks noGrp="1" noChangeAspect="1"/>
          </p:cNvPicPr>
          <p:nvPr>
            <p:ph sz="half" idx="1"/>
          </p:nvPr>
        </p:nvPicPr>
        <p:blipFill>
          <a:blip r:embed="rId3"/>
          <a:stretch>
            <a:fillRect/>
          </a:stretch>
        </p:blipFill>
        <p:spPr>
          <a:xfrm>
            <a:off x="5691261" y="1385776"/>
            <a:ext cx="5837780" cy="4086446"/>
          </a:xfrm>
          <a:prstGeom prst="rect">
            <a:avLst/>
          </a:prstGeom>
        </p:spPr>
      </p:pic>
    </p:spTree>
    <p:extLst>
      <p:ext uri="{BB962C8B-B14F-4D97-AF65-F5344CB8AC3E}">
        <p14:creationId xmlns:p14="http://schemas.microsoft.com/office/powerpoint/2010/main" val="1699115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9DECF8-B121-E234-61B9-A35828110C1D}"/>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sz="3600" b="1" kern="1200">
                <a:solidFill>
                  <a:schemeClr val="tx1"/>
                </a:solidFill>
                <a:latin typeface="+mj-lt"/>
                <a:ea typeface="+mj-ea"/>
                <a:cs typeface="+mj-cs"/>
              </a:rPr>
              <a:t>K-Nearest Neighbors (KNN) Explained</a:t>
            </a:r>
          </a:p>
        </p:txBody>
      </p:sp>
      <p:sp>
        <p:nvSpPr>
          <p:cNvPr id="4" name="Content Placeholder 3">
            <a:extLst>
              <a:ext uri="{FF2B5EF4-FFF2-40B4-BE49-F238E27FC236}">
                <a16:creationId xmlns:a16="http://schemas.microsoft.com/office/drawing/2014/main" id="{05A2D3C6-706E-C5AD-46EA-8EEAEFB9400A}"/>
              </a:ext>
            </a:extLst>
          </p:cNvPr>
          <p:cNvSpPr>
            <a:spLocks noGrp="1"/>
          </p:cNvSpPr>
          <p:nvPr>
            <p:ph sz="half" idx="2"/>
          </p:nvPr>
        </p:nvSpPr>
        <p:spPr>
          <a:xfrm>
            <a:off x="614679" y="2212848"/>
            <a:ext cx="4361688" cy="4096512"/>
          </a:xfrm>
        </p:spPr>
        <p:txBody>
          <a:bodyPr vert="horz" lIns="91440" tIns="45720" rIns="91440" bIns="45720" rtlCol="0">
            <a:normAutofit/>
          </a:bodyPr>
          <a:lstStyle/>
          <a:p>
            <a:pPr>
              <a:lnSpc>
                <a:spcPct val="120000"/>
              </a:lnSpc>
            </a:pPr>
            <a:r>
              <a:rPr lang="en-US" sz="1800"/>
              <a:t>KNN is a simple, instance-based learning algorithm.</a:t>
            </a:r>
          </a:p>
          <a:p>
            <a:pPr>
              <a:lnSpc>
                <a:spcPct val="120000"/>
              </a:lnSpc>
            </a:pPr>
            <a:r>
              <a:rPr lang="en-US" sz="1800"/>
              <a:t>It classifies based on the majority class of neighbors.</a:t>
            </a:r>
          </a:p>
          <a:p>
            <a:pPr>
              <a:lnSpc>
                <a:spcPct val="120000"/>
              </a:lnSpc>
            </a:pPr>
            <a:r>
              <a:rPr lang="en-US" sz="1800"/>
              <a:t>Distance metrics determine neighbor proximity.</a:t>
            </a:r>
          </a:p>
          <a:p>
            <a:pPr>
              <a:lnSpc>
                <a:spcPct val="120000"/>
              </a:lnSpc>
            </a:pPr>
            <a:r>
              <a:rPr lang="en-US" sz="1800"/>
              <a:t>Sensitive to irrelevant features and feature scaling.</a:t>
            </a:r>
          </a:p>
          <a:p>
            <a:pPr>
              <a:lnSpc>
                <a:spcPct val="120000"/>
              </a:lnSpc>
            </a:pPr>
            <a:r>
              <a:rPr lang="en-US" sz="1800"/>
              <a:t>Useful for both classification and regression.</a:t>
            </a:r>
          </a:p>
        </p:txBody>
      </p:sp>
      <p:pic>
        <p:nvPicPr>
          <p:cNvPr id="5" name="Content Placeholder 4" descr="High angle view of rulers against a white background">
            <a:extLst>
              <a:ext uri="{FF2B5EF4-FFF2-40B4-BE49-F238E27FC236}">
                <a16:creationId xmlns:a16="http://schemas.microsoft.com/office/drawing/2014/main" id="{5A548B80-1801-4484-98A1-54107D5E6849}"/>
              </a:ext>
            </a:extLst>
          </p:cNvPr>
          <p:cNvPicPr>
            <a:picLocks noGrp="1" noChangeAspect="1"/>
          </p:cNvPicPr>
          <p:nvPr>
            <p:ph sz="half" idx="1"/>
          </p:nvPr>
        </p:nvPicPr>
        <p:blipFill>
          <a:blip r:embed="rId3"/>
          <a:srcRect l="14281" r="23685" b="-2"/>
          <a:stretch/>
        </p:blipFill>
        <p:spPr>
          <a:xfrm>
            <a:off x="5818632" y="-1"/>
            <a:ext cx="6373368" cy="6857999"/>
          </a:xfrm>
          <a:prstGeom prst="rect">
            <a:avLst/>
          </a:prstGeom>
        </p:spPr>
      </p:pic>
    </p:spTree>
    <p:extLst>
      <p:ext uri="{BB962C8B-B14F-4D97-AF65-F5344CB8AC3E}">
        <p14:creationId xmlns:p14="http://schemas.microsoft.com/office/powerpoint/2010/main" val="3207982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59B726-1A12-AE84-96F7-F8D7F586B921}"/>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XGBoost: A Powerful Boosting Technique</a:t>
            </a:r>
          </a:p>
        </p:txBody>
      </p:sp>
      <p:sp>
        <p:nvSpPr>
          <p:cNvPr id="4" name="Content Placeholder 3">
            <a:extLst>
              <a:ext uri="{FF2B5EF4-FFF2-40B4-BE49-F238E27FC236}">
                <a16:creationId xmlns:a16="http://schemas.microsoft.com/office/drawing/2014/main" id="{AA626543-AF2A-9F0D-B93C-948BED7E9DEE}"/>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XGBoost stands for Extreme Gradient Boosting.</a:t>
            </a:r>
          </a:p>
          <a:p>
            <a:pPr>
              <a:lnSpc>
                <a:spcPct val="110000"/>
              </a:lnSpc>
            </a:pPr>
            <a:r>
              <a:rPr lang="en-US" sz="1500"/>
              <a:t>It is an efficient implementation of gradient boosting algorithms.</a:t>
            </a:r>
          </a:p>
          <a:p>
            <a:pPr>
              <a:lnSpc>
                <a:spcPct val="110000"/>
              </a:lnSpc>
            </a:pPr>
            <a:r>
              <a:rPr lang="en-US" sz="1500"/>
              <a:t>It regularly wins machine learning competitions due to its performance.</a:t>
            </a:r>
          </a:p>
          <a:p>
            <a:pPr>
              <a:lnSpc>
                <a:spcPct val="110000"/>
              </a:lnSpc>
            </a:pPr>
            <a:r>
              <a:rPr lang="en-US" sz="1500"/>
              <a:t>XGBoost handles sparse data and missing values effectively.</a:t>
            </a:r>
          </a:p>
          <a:p>
            <a:pPr>
              <a:lnSpc>
                <a:spcPct val="110000"/>
              </a:lnSpc>
            </a:pPr>
            <a:r>
              <a:rPr lang="en-US" sz="1500"/>
              <a:t>Hyperparameter tuning is crucial for optimal performance.</a:t>
            </a:r>
          </a:p>
        </p:txBody>
      </p:sp>
      <p:pic>
        <p:nvPicPr>
          <p:cNvPr id="5" name="Content Placeholder 4" descr="graphs and charts  Financial data analyzingPlease see some similar pictures from my lightbox:">
            <a:extLst>
              <a:ext uri="{FF2B5EF4-FFF2-40B4-BE49-F238E27FC236}">
                <a16:creationId xmlns:a16="http://schemas.microsoft.com/office/drawing/2014/main" id="{0D224E2C-C61A-456E-85D9-B386321AC296}"/>
              </a:ext>
            </a:extLst>
          </p:cNvPr>
          <p:cNvPicPr>
            <a:picLocks noGrp="1" noChangeAspect="1"/>
          </p:cNvPicPr>
          <p:nvPr>
            <p:ph sz="half" idx="1"/>
          </p:nvPr>
        </p:nvPicPr>
        <p:blipFill>
          <a:blip r:embed="rId3"/>
          <a:stretch>
            <a:fillRect/>
          </a:stretch>
        </p:blipFill>
        <p:spPr>
          <a:xfrm>
            <a:off x="5691261" y="1480640"/>
            <a:ext cx="5837780" cy="3896718"/>
          </a:xfrm>
          <a:prstGeom prst="rect">
            <a:avLst/>
          </a:prstGeom>
        </p:spPr>
      </p:pic>
    </p:spTree>
    <p:extLst>
      <p:ext uri="{BB962C8B-B14F-4D97-AF65-F5344CB8AC3E}">
        <p14:creationId xmlns:p14="http://schemas.microsoft.com/office/powerpoint/2010/main" val="3479755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FB9965-34C6-72A5-5285-257474B7F88C}"/>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100" b="1" kern="1200">
                <a:solidFill>
                  <a:schemeClr val="tx1"/>
                </a:solidFill>
                <a:latin typeface="+mj-lt"/>
                <a:ea typeface="+mj-ea"/>
                <a:cs typeface="+mj-cs"/>
              </a:rPr>
              <a:t>Evaluation Metrics for Classification Algorithms</a:t>
            </a:r>
          </a:p>
        </p:txBody>
      </p:sp>
      <p:sp>
        <p:nvSpPr>
          <p:cNvPr id="4" name="Content Placeholder 3">
            <a:extLst>
              <a:ext uri="{FF2B5EF4-FFF2-40B4-BE49-F238E27FC236}">
                <a16:creationId xmlns:a16="http://schemas.microsoft.com/office/drawing/2014/main" id="{44C02F00-9984-EB80-FB12-1568B9BCD5E0}"/>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Accuracy measures the overall correctness of the model.</a:t>
            </a:r>
          </a:p>
          <a:p>
            <a:pPr>
              <a:lnSpc>
                <a:spcPct val="110000"/>
              </a:lnSpc>
            </a:pPr>
            <a:r>
              <a:rPr lang="en-US" sz="1500"/>
              <a:t>Precision indicates the proportion of true positive results.</a:t>
            </a:r>
          </a:p>
          <a:p>
            <a:pPr>
              <a:lnSpc>
                <a:spcPct val="110000"/>
              </a:lnSpc>
            </a:pPr>
            <a:r>
              <a:rPr lang="en-US" sz="1500"/>
              <a:t>Recall evaluates the model's ability to find all relevant instances.</a:t>
            </a:r>
          </a:p>
          <a:p>
            <a:pPr>
              <a:lnSpc>
                <a:spcPct val="110000"/>
              </a:lnSpc>
            </a:pPr>
            <a:r>
              <a:rPr lang="en-US" sz="1500"/>
              <a:t>F1 Score balances precision and recall in one metric.</a:t>
            </a:r>
          </a:p>
          <a:p>
            <a:pPr>
              <a:lnSpc>
                <a:spcPct val="110000"/>
              </a:lnSpc>
            </a:pPr>
            <a:r>
              <a:rPr lang="en-US" sz="1500"/>
              <a:t>ROC-AUC assesses the model's performance across various thresholds.</a:t>
            </a:r>
          </a:p>
        </p:txBody>
      </p:sp>
      <p:pic>
        <p:nvPicPr>
          <p:cNvPr id="5" name="Content Placeholder 4" descr="101010 data lines to infinity">
            <a:extLst>
              <a:ext uri="{FF2B5EF4-FFF2-40B4-BE49-F238E27FC236}">
                <a16:creationId xmlns:a16="http://schemas.microsoft.com/office/drawing/2014/main" id="{08F7AE10-6CB5-4669-A5C4-418832665A79}"/>
              </a:ext>
            </a:extLst>
          </p:cNvPr>
          <p:cNvPicPr>
            <a:picLocks noGrp="1" noChangeAspect="1"/>
          </p:cNvPicPr>
          <p:nvPr>
            <p:ph sz="half" idx="1"/>
          </p:nvPr>
        </p:nvPicPr>
        <p:blipFill>
          <a:blip r:embed="rId3"/>
          <a:stretch>
            <a:fillRect/>
          </a:stretch>
        </p:blipFill>
        <p:spPr>
          <a:xfrm>
            <a:off x="5691261" y="1539017"/>
            <a:ext cx="5837780" cy="3779964"/>
          </a:xfrm>
          <a:prstGeom prst="rect">
            <a:avLst/>
          </a:prstGeom>
        </p:spPr>
      </p:pic>
    </p:spTree>
    <p:extLst>
      <p:ext uri="{BB962C8B-B14F-4D97-AF65-F5344CB8AC3E}">
        <p14:creationId xmlns:p14="http://schemas.microsoft.com/office/powerpoint/2010/main" val="1061455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EA4377-2C0B-752B-9CE6-D6F77C9A837E}"/>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Understanding Regression Metrics</a:t>
            </a:r>
          </a:p>
        </p:txBody>
      </p:sp>
      <p:sp>
        <p:nvSpPr>
          <p:cNvPr id="4" name="Content Placeholder 3">
            <a:extLst>
              <a:ext uri="{FF2B5EF4-FFF2-40B4-BE49-F238E27FC236}">
                <a16:creationId xmlns:a16="http://schemas.microsoft.com/office/drawing/2014/main" id="{D82346CA-E521-38BC-2922-AB822518364B}"/>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Mean Absolute Error (MAE) measures average prediction error.</a:t>
            </a:r>
          </a:p>
          <a:p>
            <a:pPr>
              <a:lnSpc>
                <a:spcPct val="110000"/>
              </a:lnSpc>
            </a:pPr>
            <a:r>
              <a:rPr lang="en-US" sz="1500"/>
              <a:t>Mean Squared Error (MSE) squares the error for greater weight.</a:t>
            </a:r>
          </a:p>
          <a:p>
            <a:pPr>
              <a:lnSpc>
                <a:spcPct val="110000"/>
              </a:lnSpc>
            </a:pPr>
            <a:r>
              <a:rPr lang="en-US" sz="1500"/>
              <a:t>Root Mean Squared Error (RMSE) offers error in original units.</a:t>
            </a:r>
          </a:p>
          <a:p>
            <a:pPr>
              <a:lnSpc>
                <a:spcPct val="110000"/>
              </a:lnSpc>
            </a:pPr>
            <a:r>
              <a:rPr lang="en-US" sz="1500"/>
              <a:t>R-squared indicates the proportion of explained variance.</a:t>
            </a:r>
          </a:p>
          <a:p>
            <a:pPr>
              <a:lnSpc>
                <a:spcPct val="110000"/>
              </a:lnSpc>
            </a:pPr>
            <a:r>
              <a:rPr lang="en-US" sz="1500"/>
              <a:t>Adjusted R-squared accounts for the number of predictors.</a:t>
            </a:r>
          </a:p>
        </p:txBody>
      </p:sp>
      <p:pic>
        <p:nvPicPr>
          <p:cNvPr id="5" name="Content Placeholder 4" descr="Financial graphs on a dark display">
            <a:extLst>
              <a:ext uri="{FF2B5EF4-FFF2-40B4-BE49-F238E27FC236}">
                <a16:creationId xmlns:a16="http://schemas.microsoft.com/office/drawing/2014/main" id="{968A8546-B993-4AE7-9C57-4823043A33C1}"/>
              </a:ext>
            </a:extLst>
          </p:cNvPr>
          <p:cNvPicPr>
            <a:picLocks noGrp="1" noChangeAspect="1"/>
          </p:cNvPicPr>
          <p:nvPr>
            <p:ph sz="half" idx="1"/>
          </p:nvPr>
        </p:nvPicPr>
        <p:blipFill>
          <a:blip r:embed="rId3"/>
          <a:stretch>
            <a:fillRect/>
          </a:stretch>
        </p:blipFill>
        <p:spPr>
          <a:xfrm>
            <a:off x="5691261" y="1604693"/>
            <a:ext cx="5837780" cy="3648612"/>
          </a:xfrm>
          <a:prstGeom prst="rect">
            <a:avLst/>
          </a:prstGeom>
        </p:spPr>
      </p:pic>
    </p:spTree>
    <p:extLst>
      <p:ext uri="{BB962C8B-B14F-4D97-AF65-F5344CB8AC3E}">
        <p14:creationId xmlns:p14="http://schemas.microsoft.com/office/powerpoint/2010/main" val="140930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AC00C3-5D84-FC58-911C-5F16DC64B22C}"/>
              </a:ext>
            </a:extLst>
          </p:cNvPr>
          <p:cNvSpPr>
            <a:spLocks noGrp="1"/>
          </p:cNvSpPr>
          <p:nvPr>
            <p:ph type="title"/>
          </p:nvPr>
        </p:nvSpPr>
        <p:spPr>
          <a:xfrm>
            <a:off x="612648" y="603504"/>
            <a:ext cx="4361686" cy="1527048"/>
          </a:xfrm>
        </p:spPr>
        <p:txBody>
          <a:bodyPr vert="horz" lIns="91440" tIns="45720" rIns="91440" bIns="45720" rtlCol="0" anchor="b">
            <a:normAutofit/>
          </a:bodyPr>
          <a:lstStyle/>
          <a:p>
            <a:r>
              <a:rPr lang="en-US" sz="3300" b="1" kern="1200" dirty="0">
                <a:solidFill>
                  <a:schemeClr val="tx1"/>
                </a:solidFill>
                <a:latin typeface="+mj-lt"/>
                <a:ea typeface="+mj-ea"/>
                <a:cs typeface="+mj-cs"/>
              </a:rPr>
              <a:t>Mastering Hyperparameter Tuning</a:t>
            </a:r>
          </a:p>
        </p:txBody>
      </p:sp>
      <p:sp>
        <p:nvSpPr>
          <p:cNvPr id="4" name="Content Placeholder 3">
            <a:extLst>
              <a:ext uri="{FF2B5EF4-FFF2-40B4-BE49-F238E27FC236}">
                <a16:creationId xmlns:a16="http://schemas.microsoft.com/office/drawing/2014/main" id="{513F392F-FA49-33A4-F264-965DED801CAF}"/>
              </a:ext>
            </a:extLst>
          </p:cNvPr>
          <p:cNvSpPr>
            <a:spLocks noGrp="1"/>
          </p:cNvSpPr>
          <p:nvPr>
            <p:ph sz="half" idx="2"/>
          </p:nvPr>
        </p:nvSpPr>
        <p:spPr>
          <a:xfrm>
            <a:off x="612647" y="2212848"/>
            <a:ext cx="4361687" cy="4096512"/>
          </a:xfrm>
        </p:spPr>
        <p:txBody>
          <a:bodyPr vert="horz" lIns="91440" tIns="45720" rIns="91440" bIns="45720" rtlCol="0">
            <a:normAutofit/>
          </a:bodyPr>
          <a:lstStyle/>
          <a:p>
            <a:pPr>
              <a:lnSpc>
                <a:spcPct val="120000"/>
              </a:lnSpc>
            </a:pPr>
            <a:r>
              <a:rPr lang="en-US" sz="1800"/>
              <a:t>Hyperparameter tuning optimizes model performance.</a:t>
            </a:r>
          </a:p>
          <a:p>
            <a:pPr>
              <a:lnSpc>
                <a:spcPct val="120000"/>
              </a:lnSpc>
            </a:pPr>
            <a:r>
              <a:rPr lang="en-US" sz="1800"/>
              <a:t>Involves selecting the best parameters for algorithms.</a:t>
            </a:r>
          </a:p>
          <a:p>
            <a:pPr>
              <a:lnSpc>
                <a:spcPct val="120000"/>
              </a:lnSpc>
            </a:pPr>
            <a:r>
              <a:rPr lang="en-US" sz="1800"/>
              <a:t>Common techniques include grid search and random search.</a:t>
            </a:r>
          </a:p>
          <a:p>
            <a:pPr>
              <a:lnSpc>
                <a:spcPct val="120000"/>
              </a:lnSpc>
            </a:pPr>
            <a:r>
              <a:rPr lang="en-US" sz="1800"/>
              <a:t>Bayesian optimization is an advanced method.</a:t>
            </a:r>
          </a:p>
          <a:p>
            <a:pPr>
              <a:lnSpc>
                <a:spcPct val="120000"/>
              </a:lnSpc>
            </a:pPr>
            <a:r>
              <a:rPr lang="en-US" sz="1800"/>
              <a:t>Tuning can significantly reduce overfitting and improve accuracy.</a:t>
            </a:r>
          </a:p>
        </p:txBody>
      </p:sp>
      <p:pic>
        <p:nvPicPr>
          <p:cNvPr id="5" name="Content Placeholder 4" descr="101010 data lines to infinity">
            <a:extLst>
              <a:ext uri="{FF2B5EF4-FFF2-40B4-BE49-F238E27FC236}">
                <a16:creationId xmlns:a16="http://schemas.microsoft.com/office/drawing/2014/main" id="{F5CC0EBB-E3EC-4247-942B-86BD5F54AD22}"/>
              </a:ext>
            </a:extLst>
          </p:cNvPr>
          <p:cNvPicPr>
            <a:picLocks noGrp="1" noChangeAspect="1"/>
          </p:cNvPicPr>
          <p:nvPr>
            <p:ph sz="half" idx="1"/>
          </p:nvPr>
        </p:nvPicPr>
        <p:blipFill>
          <a:blip r:embed="rId3"/>
          <a:srcRect l="21866" r="17961" b="1"/>
          <a:stretch>
            <a:fillRect/>
          </a:stretch>
        </p:blipFill>
        <p:spPr>
          <a:xfrm>
            <a:off x="5818632" y="-1"/>
            <a:ext cx="6373368" cy="6858001"/>
          </a:xfrm>
          <a:prstGeom prst="rect">
            <a:avLst/>
          </a:prstGeom>
        </p:spPr>
      </p:pic>
    </p:spTree>
    <p:extLst>
      <p:ext uri="{BB962C8B-B14F-4D97-AF65-F5344CB8AC3E}">
        <p14:creationId xmlns:p14="http://schemas.microsoft.com/office/powerpoint/2010/main" val="1562761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0270BC-C5AA-00A8-CFC4-E38B7B990530}"/>
              </a:ext>
            </a:extLst>
          </p:cNvPr>
          <p:cNvSpPr>
            <a:spLocks noGrp="1"/>
          </p:cNvSpPr>
          <p:nvPr>
            <p:ph type="title"/>
          </p:nvPr>
        </p:nvSpPr>
        <p:spPr>
          <a:xfrm>
            <a:off x="612648" y="603504"/>
            <a:ext cx="4361686" cy="1527048"/>
          </a:xfrm>
        </p:spPr>
        <p:txBody>
          <a:bodyPr vert="horz" lIns="91440" tIns="45720" rIns="91440" bIns="45720" rtlCol="0" anchor="b">
            <a:normAutofit/>
          </a:bodyPr>
          <a:lstStyle/>
          <a:p>
            <a:r>
              <a:rPr lang="en-US" sz="3300" b="1" kern="1200" dirty="0">
                <a:solidFill>
                  <a:schemeClr val="tx1"/>
                </a:solidFill>
                <a:latin typeface="+mj-lt"/>
                <a:ea typeface="+mj-ea"/>
                <a:cs typeface="+mj-cs"/>
              </a:rPr>
              <a:t>Grid Search vs Random Search: Optimizing Hyperparameters</a:t>
            </a:r>
          </a:p>
        </p:txBody>
      </p:sp>
      <p:sp>
        <p:nvSpPr>
          <p:cNvPr id="4" name="Content Placeholder 3">
            <a:extLst>
              <a:ext uri="{FF2B5EF4-FFF2-40B4-BE49-F238E27FC236}">
                <a16:creationId xmlns:a16="http://schemas.microsoft.com/office/drawing/2014/main" id="{0E34147D-BA4E-5056-3E45-BA51464BB833}"/>
              </a:ext>
            </a:extLst>
          </p:cNvPr>
          <p:cNvSpPr>
            <a:spLocks noGrp="1"/>
          </p:cNvSpPr>
          <p:nvPr>
            <p:ph sz="half" idx="2"/>
          </p:nvPr>
        </p:nvSpPr>
        <p:spPr>
          <a:xfrm>
            <a:off x="612647" y="2212848"/>
            <a:ext cx="4361687" cy="4096512"/>
          </a:xfrm>
        </p:spPr>
        <p:txBody>
          <a:bodyPr vert="horz" lIns="91440" tIns="45720" rIns="91440" bIns="45720" rtlCol="0">
            <a:normAutofit/>
          </a:bodyPr>
          <a:lstStyle/>
          <a:p>
            <a:pPr>
              <a:lnSpc>
                <a:spcPct val="110000"/>
              </a:lnSpc>
            </a:pPr>
            <a:r>
              <a:rPr lang="en-US" sz="1800"/>
              <a:t>Grid search exhaustively tests all combinations of parameters.</a:t>
            </a:r>
          </a:p>
          <a:p>
            <a:pPr>
              <a:lnSpc>
                <a:spcPct val="110000"/>
              </a:lnSpc>
            </a:pPr>
            <a:r>
              <a:rPr lang="en-US" sz="1800"/>
              <a:t>Random search samples random combinations within defined limits.</a:t>
            </a:r>
          </a:p>
          <a:p>
            <a:pPr>
              <a:lnSpc>
                <a:spcPct val="110000"/>
              </a:lnSpc>
            </a:pPr>
            <a:r>
              <a:rPr lang="en-US" sz="1800"/>
              <a:t>Grid search can be computationally expensive for large parameter spaces.</a:t>
            </a:r>
          </a:p>
          <a:p>
            <a:pPr>
              <a:lnSpc>
                <a:spcPct val="110000"/>
              </a:lnSpc>
            </a:pPr>
            <a:r>
              <a:rPr lang="en-US" sz="1800"/>
              <a:t>Random search often finds optimal parameters faster with less computation.</a:t>
            </a:r>
          </a:p>
          <a:p>
            <a:pPr>
              <a:lnSpc>
                <a:spcPct val="110000"/>
              </a:lnSpc>
            </a:pPr>
            <a:r>
              <a:rPr lang="en-US" sz="1800"/>
              <a:t>Choosing the right method depends on the specific problem and resources.</a:t>
            </a:r>
          </a:p>
        </p:txBody>
      </p:sp>
      <p:pic>
        <p:nvPicPr>
          <p:cNvPr id="5" name="Content Placeholder 4" descr="Illuminated server room panel">
            <a:extLst>
              <a:ext uri="{FF2B5EF4-FFF2-40B4-BE49-F238E27FC236}">
                <a16:creationId xmlns:a16="http://schemas.microsoft.com/office/drawing/2014/main" id="{CB9A30AC-6F62-455C-AD41-99FF6C3C3954}"/>
              </a:ext>
            </a:extLst>
          </p:cNvPr>
          <p:cNvPicPr>
            <a:picLocks noGrp="1" noChangeAspect="1"/>
          </p:cNvPicPr>
          <p:nvPr>
            <p:ph sz="half" idx="1"/>
          </p:nvPr>
        </p:nvPicPr>
        <p:blipFill>
          <a:blip r:embed="rId3"/>
          <a:srcRect l="14925" r="23041" b="-2"/>
          <a:stretch>
            <a:fillRect/>
          </a:stretch>
        </p:blipFill>
        <p:spPr>
          <a:xfrm>
            <a:off x="5818632" y="-1"/>
            <a:ext cx="6373368" cy="6858001"/>
          </a:xfrm>
          <a:prstGeom prst="rect">
            <a:avLst/>
          </a:prstGeom>
        </p:spPr>
      </p:pic>
    </p:spTree>
    <p:extLst>
      <p:ext uri="{BB962C8B-B14F-4D97-AF65-F5344CB8AC3E}">
        <p14:creationId xmlns:p14="http://schemas.microsoft.com/office/powerpoint/2010/main" val="2954602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2244</Words>
  <Application>Microsoft Office PowerPoint</Application>
  <PresentationFormat>Widescreen</PresentationFormat>
  <Paragraphs>158</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Introduction to Machine Learning</vt:lpstr>
      <vt:lpstr>Understanding Machine Learning</vt:lpstr>
      <vt:lpstr>Diverse Applications of Machine Learning</vt:lpstr>
      <vt:lpstr>Exploring Types of Machine Learning</vt:lpstr>
      <vt:lpstr>Linear Regression Unveiled</vt:lpstr>
      <vt:lpstr>Understanding Regularization Techniques</vt:lpstr>
      <vt:lpstr>Logistic Regression Basics</vt:lpstr>
      <vt:lpstr>Diving Deeper into Machine Learning Algorithms</vt:lpstr>
      <vt:lpstr>Decision Trees Explained</vt:lpstr>
      <vt:lpstr>Random Forests Overview</vt:lpstr>
      <vt:lpstr>Enhancing Model Performance with Bagging and Boosting</vt:lpstr>
      <vt:lpstr>Bagging vs. Boosting: Key Differences</vt:lpstr>
      <vt:lpstr>AdaBoost: Boosting Performance</vt:lpstr>
      <vt:lpstr>Support Vector Machines (SVM)</vt:lpstr>
      <vt:lpstr>K-Nearest Neighbors (KNN) Explained</vt:lpstr>
      <vt:lpstr>XGBoost: A Powerful Boosting Technique</vt:lpstr>
      <vt:lpstr>Evaluation Metrics for Classification Algorithms</vt:lpstr>
      <vt:lpstr>Understanding Regression Metrics</vt:lpstr>
      <vt:lpstr>Mastering Hyperparameter Tuning</vt:lpstr>
      <vt:lpstr>Grid Search vs Random Search: Optimizing Hyperparameters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Karthikraghunath</dc:creator>
  <cp:lastModifiedBy>KARTHIKRAGHUNATH GUNASEKARAN</cp:lastModifiedBy>
  <cp:revision>2</cp:revision>
  <dcterms:created xsi:type="dcterms:W3CDTF">2025-04-14T06:15:11Z</dcterms:created>
  <dcterms:modified xsi:type="dcterms:W3CDTF">2025-06-10T21:29:49Z</dcterms:modified>
</cp:coreProperties>
</file>